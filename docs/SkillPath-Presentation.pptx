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SkillPath is an AI learning coach. Most training starts by guessing what you know. This starts by measuring it, then teaches only the gaps. It runs entirely in a browser tab, with no backend to host, and works with whichever AI provider you already pay for - or a free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in one line each. Everyone in the room has sat through a course that started too low and still missed the thing they needed. The cost is not the course fee, it is the hours.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steps left to right. The important one is the loop: step 6 feeds step 2. The profile is not a one-off test result, it moves every time the learner is assessed.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screen. Left: measured mastery per sub-topic, with the evidence behind each bar. Right: the plan built from those gaps - note module 1 exists because fundamentals scored 45. Every module says why it is there for this learner.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technical heart of the product. Anyone can ask an AI for a syllabus. The difference here is that the learner's measured state is carried into every later prompt, and updated by every quiz.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answer to 'what did you actually build'. Seven role prompts, each with a strict reply format. The craft is in the rules: give numbers instead of adjectives, define every scale, and name the failure you fear - models obey specifics.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replaying the model's own JSON turns is what makes question seven depend on answers one to six. Right: the reply is never trusted - it is constrained, extracted, validated, and repaired if needed. That pipeline is why free models are usable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is the default because of this list, especially structured outputs and caching. Every other provider is mapped onto the same ideas, and where a model cannot do one of them the app degrades gracefully instead of failing.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points. One: the suggestions are matched to the learner's gaps, not a generic top-ten list. Two: the anti-hallucination design. We never trust a model-written URL. Searching the exact title always lands on the live course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lock-in was a deliberate design goal. A team can use its existing paid provider, or a learner can start free on Gemini or Groq. Adding a provider later is one catalog entry, not a refactor.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engineering that is invisible when it works. Without it, a free model returns almost-JSON and the screen breaks. With it, the same model produces a usable lesson. 54 automated checks cover exactly these paths.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boring architecture: a static site plus the provider's API. It deploys anywhere, costs nothing to host, and has two clearly marked seams for the next stage - storage and the key proxy.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The point is that it is small enough for one developer to own, strictly typed end to end, and the risky AI paths are covered by automated checks that run without spending a penny on tokens.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caveat before anyone asks - it builds trust. Today it is a personal tool. The fix is understood and scoped: one serverless function holding the key, and the app points at it instead of the provider.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story with direction. The first item is what turns this from a personal tool into something the team can use, and it is small.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one-liner: measure first, teach the gap. Then hand over to questions, or move to the next automation in the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822960"/>
            <a:ext cx="822960" cy="82296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libri"/>
              </a:rPr>
              <a:t>S</a:t>
            </a:r>
          </a:p>
        </p:txBody>
      </p:sp>
      <p:sp>
        <p:nvSpPr>
          <p:cNvPr id="4" name="TextBox 3"/>
          <p:cNvSpPr txBox="1"/>
          <p:nvPr/>
        </p:nvSpPr>
        <p:spPr>
          <a:xfrm>
            <a:off x="731520" y="2103120"/>
            <a:ext cx="10515600" cy="1463040"/>
          </a:xfrm>
          <a:prstGeom prst="rect">
            <a:avLst/>
          </a:prstGeom>
          <a:noFill/>
        </p:spPr>
        <p:txBody>
          <a:bodyPr wrap="square" lIns="0" rIns="0" tIns="0" bIns="0" anchor="t">
            <a:spAutoFit/>
          </a:bodyPr>
          <a:lstStyle/>
          <a:p>
            <a:pPr algn="l">
              <a:lnSpc>
                <a:spcPct val="115000"/>
              </a:lnSpc>
              <a:spcAft>
                <a:spcPts val="600"/>
              </a:spcAft>
            </a:pPr>
            <a:r>
              <a:rPr sz="6000" b="1">
                <a:solidFill>
                  <a:srgbClr val="FFFFFF"/>
                </a:solidFill>
                <a:latin typeface="Cambria"/>
              </a:rPr>
              <a:t>SkillPath</a:t>
            </a:r>
          </a:p>
        </p:txBody>
      </p:sp>
      <p:sp>
        <p:nvSpPr>
          <p:cNvPr id="5" name="TextBox 4"/>
          <p:cNvSpPr txBox="1"/>
          <p:nvPr/>
        </p:nvSpPr>
        <p:spPr>
          <a:xfrm>
            <a:off x="731520" y="3200400"/>
            <a:ext cx="10058400" cy="822960"/>
          </a:xfrm>
          <a:prstGeom prst="rect">
            <a:avLst/>
          </a:prstGeom>
          <a:noFill/>
        </p:spPr>
        <p:txBody>
          <a:bodyPr wrap="square" lIns="0" rIns="0" tIns="0" bIns="0" anchor="t">
            <a:spAutoFit/>
          </a:bodyPr>
          <a:lstStyle/>
          <a:p>
            <a:pPr algn="l">
              <a:lnSpc>
                <a:spcPct val="115000"/>
              </a:lnSpc>
              <a:spcAft>
                <a:spcPts val="600"/>
              </a:spcAft>
            </a:pPr>
            <a:r>
              <a:rPr sz="2200" b="0">
                <a:solidFill>
                  <a:srgbClr val="C7D2FE"/>
                </a:solidFill>
                <a:latin typeface="Calibri"/>
              </a:rPr>
              <a:t>An adaptive learning coach that finds your real level, then teaches you the rest</a:t>
            </a:r>
          </a:p>
        </p:txBody>
      </p:sp>
      <p:sp>
        <p:nvSpPr>
          <p:cNvPr id="6" name="TextBox 5"/>
          <p:cNvSpPr txBox="1"/>
          <p:nvPr/>
        </p:nvSpPr>
        <p:spPr>
          <a:xfrm>
            <a:off x="731520" y="4297680"/>
            <a:ext cx="1005840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Built with React, TypeScript and any major AI provider</a:t>
            </a:r>
          </a:p>
        </p:txBody>
      </p:sp>
      <p:sp>
        <p:nvSpPr>
          <p:cNvPr id="7" name="Rounded Rectangle 6"/>
          <p:cNvSpPr/>
          <p:nvPr/>
        </p:nvSpPr>
        <p:spPr>
          <a:xfrm>
            <a:off x="731520" y="5120640"/>
            <a:ext cx="182880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No backend</a:t>
            </a:r>
          </a:p>
        </p:txBody>
      </p:sp>
      <p:sp>
        <p:nvSpPr>
          <p:cNvPr id="9" name="Rounded Rectangle 8"/>
          <p:cNvSpPr/>
          <p:nvPr/>
        </p:nvSpPr>
        <p:spPr>
          <a:xfrm>
            <a:off x="2743200" y="5120640"/>
            <a:ext cx="182880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2608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12 AI providers</a:t>
            </a:r>
          </a:p>
        </p:txBody>
      </p:sp>
      <p:sp>
        <p:nvSpPr>
          <p:cNvPr id="11" name="Rounded Rectangle 10"/>
          <p:cNvSpPr/>
          <p:nvPr/>
        </p:nvSpPr>
        <p:spPr>
          <a:xfrm>
            <a:off x="5394960" y="5120640"/>
            <a:ext cx="246888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Runs in a browser tab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The problem with most technical training</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Three things waste a learner's time</a:t>
            </a:r>
          </a:p>
        </p:txBody>
      </p:sp>
      <p:sp>
        <p:nvSpPr>
          <p:cNvPr id="5" name="Rounded Rectangle 4"/>
          <p:cNvSpPr/>
          <p:nvPr/>
        </p:nvSpPr>
        <p:spPr>
          <a:xfrm>
            <a:off x="73152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5156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051560"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Courses assume a level</a:t>
            </a:r>
          </a:p>
        </p:txBody>
      </p:sp>
      <p:sp>
        <p:nvSpPr>
          <p:cNvPr id="8" name="TextBox 7"/>
          <p:cNvSpPr txBox="1"/>
          <p:nvPr/>
        </p:nvSpPr>
        <p:spPr>
          <a:xfrm>
            <a:off x="1051560"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A 40-hour course repeats what you already know and still skips your real gap.</a:t>
            </a:r>
          </a:p>
        </p:txBody>
      </p:sp>
      <p:sp>
        <p:nvSpPr>
          <p:cNvPr id="9" name="Rounded Rectangle 8"/>
          <p:cNvSpPr/>
          <p:nvPr/>
        </p:nvSpPr>
        <p:spPr>
          <a:xfrm>
            <a:off x="443484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754879"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4754879"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Nobody knows their gaps</a:t>
            </a:r>
          </a:p>
        </p:txBody>
      </p:sp>
      <p:sp>
        <p:nvSpPr>
          <p:cNvPr id="12" name="TextBox 11"/>
          <p:cNvSpPr txBox="1"/>
          <p:nvPr/>
        </p:nvSpPr>
        <p:spPr>
          <a:xfrm>
            <a:off x="4754879"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"Learn Python" is not a plan. Learners cannot see what is actually missing.</a:t>
            </a:r>
          </a:p>
        </p:txBody>
      </p:sp>
      <p:sp>
        <p:nvSpPr>
          <p:cNvPr id="13" name="Rounded Rectangle 12"/>
          <p:cNvSpPr/>
          <p:nvPr/>
        </p:nvSpPr>
        <p:spPr>
          <a:xfrm>
            <a:off x="813816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5820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8458200"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Too much choice</a:t>
            </a:r>
          </a:p>
        </p:txBody>
      </p:sp>
      <p:sp>
        <p:nvSpPr>
          <p:cNvPr id="16" name="TextBox 15"/>
          <p:cNvSpPr txBox="1"/>
          <p:nvPr/>
        </p:nvSpPr>
        <p:spPr>
          <a:xfrm>
            <a:off x="8458200"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Hundreds of courses, no way to tell which one fits this person's goal.</a:t>
            </a:r>
          </a:p>
        </p:txBody>
      </p:sp>
      <p:sp>
        <p:nvSpPr>
          <p:cNvPr id="17" name="TextBox 16"/>
          <p:cNvSpPr txBox="1"/>
          <p:nvPr/>
        </p:nvSpPr>
        <p:spPr>
          <a:xfrm>
            <a:off x="731520" y="5029200"/>
            <a:ext cx="10789920" cy="548640"/>
          </a:xfrm>
          <a:prstGeom prst="rect">
            <a:avLst/>
          </a:prstGeom>
          <a:noFill/>
        </p:spPr>
        <p:txBody>
          <a:bodyPr wrap="square" lIns="0" rIns="0" tIns="0" bIns="0" anchor="t">
            <a:spAutoFit/>
          </a:bodyPr>
          <a:lstStyle/>
          <a:p>
            <a:pPr algn="l">
              <a:lnSpc>
                <a:spcPct val="115000"/>
              </a:lnSpc>
              <a:spcAft>
                <a:spcPts val="600"/>
              </a:spcAft>
            </a:pPr>
            <a:r>
              <a:rPr sz="1500" b="1">
                <a:solidFill>
                  <a:srgbClr val="4F46E5"/>
                </a:solidFill>
                <a:latin typeface="Calibri"/>
              </a:rPr>
              <a:t>Result: hours spent, little progress, and no evidence of what improved.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How SkillPath works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Six steps, all driven by one AI conversation</a:t>
            </a:r>
          </a:p>
        </p:txBody>
      </p:sp>
      <p:sp>
        <p:nvSpPr>
          <p:cNvPr id="5" name="Rounded Rectangle 4"/>
          <p:cNvSpPr/>
          <p:nvPr/>
        </p:nvSpPr>
        <p:spPr>
          <a:xfrm>
            <a:off x="73152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05840"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60020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Skill check</a:t>
            </a:r>
          </a:p>
        </p:txBody>
      </p:sp>
      <p:sp>
        <p:nvSpPr>
          <p:cNvPr id="8" name="TextBox 7"/>
          <p:cNvSpPr txBox="1"/>
          <p:nvPr/>
        </p:nvSpPr>
        <p:spPr>
          <a:xfrm>
            <a:off x="1005840"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6-10 adaptive questions</a:t>
            </a:r>
          </a:p>
        </p:txBody>
      </p:sp>
      <p:sp>
        <p:nvSpPr>
          <p:cNvPr id="9" name="Rounded Rectangle 8"/>
          <p:cNvSpPr/>
          <p:nvPr/>
        </p:nvSpPr>
        <p:spPr>
          <a:xfrm>
            <a:off x="443484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709159"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530352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Skill profile</a:t>
            </a:r>
          </a:p>
        </p:txBody>
      </p:sp>
      <p:sp>
        <p:nvSpPr>
          <p:cNvPr id="12" name="TextBox 11"/>
          <p:cNvSpPr txBox="1"/>
          <p:nvPr/>
        </p:nvSpPr>
        <p:spPr>
          <a:xfrm>
            <a:off x="4709159"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Mastery per sub-topic</a:t>
            </a:r>
          </a:p>
        </p:txBody>
      </p:sp>
      <p:sp>
        <p:nvSpPr>
          <p:cNvPr id="13" name="Rounded Rectangle 12"/>
          <p:cNvSpPr/>
          <p:nvPr/>
        </p:nvSpPr>
        <p:spPr>
          <a:xfrm>
            <a:off x="813816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12480"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5" name="TextBox 14"/>
          <p:cNvSpPr txBox="1"/>
          <p:nvPr/>
        </p:nvSpPr>
        <p:spPr>
          <a:xfrm>
            <a:off x="900684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Learning plan</a:t>
            </a:r>
          </a:p>
        </p:txBody>
      </p:sp>
      <p:sp>
        <p:nvSpPr>
          <p:cNvPr id="16" name="TextBox 15"/>
          <p:cNvSpPr txBox="1"/>
          <p:nvPr/>
        </p:nvSpPr>
        <p:spPr>
          <a:xfrm>
            <a:off x="8412480"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Modules for your gaps</a:t>
            </a:r>
          </a:p>
        </p:txBody>
      </p:sp>
      <p:sp>
        <p:nvSpPr>
          <p:cNvPr id="17" name="Rounded Rectangle 16"/>
          <p:cNvSpPr/>
          <p:nvPr/>
        </p:nvSpPr>
        <p:spPr>
          <a:xfrm>
            <a:off x="73152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05840"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9" name="TextBox 18"/>
          <p:cNvSpPr txBox="1"/>
          <p:nvPr/>
        </p:nvSpPr>
        <p:spPr>
          <a:xfrm>
            <a:off x="160020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Courses</a:t>
            </a:r>
          </a:p>
        </p:txBody>
      </p:sp>
      <p:sp>
        <p:nvSpPr>
          <p:cNvPr id="20" name="TextBox 19"/>
          <p:cNvSpPr txBox="1"/>
          <p:nvPr/>
        </p:nvSpPr>
        <p:spPr>
          <a:xfrm>
            <a:off x="1005840"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Real courses per platform</a:t>
            </a:r>
          </a:p>
        </p:txBody>
      </p:sp>
      <p:sp>
        <p:nvSpPr>
          <p:cNvPr id="21" name="Rounded Rectangle 20"/>
          <p:cNvSpPr/>
          <p:nvPr/>
        </p:nvSpPr>
        <p:spPr>
          <a:xfrm>
            <a:off x="443484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709159"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3" name="TextBox 22"/>
          <p:cNvSpPr txBox="1"/>
          <p:nvPr/>
        </p:nvSpPr>
        <p:spPr>
          <a:xfrm>
            <a:off x="530352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Lessons</a:t>
            </a:r>
          </a:p>
        </p:txBody>
      </p:sp>
      <p:sp>
        <p:nvSpPr>
          <p:cNvPr id="24" name="TextBox 23"/>
          <p:cNvSpPr txBox="1"/>
          <p:nvPr/>
        </p:nvSpPr>
        <p:spPr>
          <a:xfrm>
            <a:off x="4709159"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Two-way tutor chat</a:t>
            </a:r>
          </a:p>
        </p:txBody>
      </p:sp>
      <p:sp>
        <p:nvSpPr>
          <p:cNvPr id="25" name="Rounded Rectangle 24"/>
          <p:cNvSpPr/>
          <p:nvPr/>
        </p:nvSpPr>
        <p:spPr>
          <a:xfrm>
            <a:off x="813816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412480"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7" name="TextBox 26"/>
          <p:cNvSpPr txBox="1"/>
          <p:nvPr/>
        </p:nvSpPr>
        <p:spPr>
          <a:xfrm>
            <a:off x="900684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Quizzes</a:t>
            </a:r>
          </a:p>
        </p:txBody>
      </p:sp>
      <p:sp>
        <p:nvSpPr>
          <p:cNvPr id="28" name="TextBox 27"/>
          <p:cNvSpPr txBox="1"/>
          <p:nvPr/>
        </p:nvSpPr>
        <p:spPr>
          <a:xfrm>
            <a:off x="8412480"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Score updates profile</a:t>
            </a:r>
          </a:p>
        </p:txBody>
      </p:sp>
      <p:sp>
        <p:nvSpPr>
          <p:cNvPr id="29" name="TextBox 28"/>
          <p:cNvSpPr txBox="1"/>
          <p:nvPr/>
        </p:nvSpPr>
        <p:spPr>
          <a:xfrm>
            <a:off x="731520" y="6172200"/>
            <a:ext cx="10789920" cy="365760"/>
          </a:xfrm>
          <a:prstGeom prst="rect">
            <a:avLst/>
          </a:prstGeom>
          <a:noFill/>
        </p:spPr>
        <p:txBody>
          <a:bodyPr wrap="square" lIns="0" rIns="0" tIns="0" bIns="0" anchor="t">
            <a:spAutoFit/>
          </a:bodyPr>
          <a:lstStyle/>
          <a:p>
            <a:pPr algn="l">
              <a:lnSpc>
                <a:spcPct val="115000"/>
              </a:lnSpc>
              <a:spcAft>
                <a:spcPts val="600"/>
              </a:spcAft>
            </a:pPr>
            <a:r>
              <a:rPr sz="1300" b="0">
                <a:solidFill>
                  <a:srgbClr val="475569"/>
                </a:solidFill>
                <a:latin typeface="Calibri"/>
              </a:rPr>
              <a:t>Quiz results feed back into the profile, so the plan keeps adapting as you improve.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What the learner sees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A real profile from a Python automation track</a:t>
            </a:r>
          </a:p>
        </p:txBody>
      </p:sp>
      <p:sp>
        <p:nvSpPr>
          <p:cNvPr id="5" name="Rounded Rectangle 4"/>
          <p:cNvSpPr/>
          <p:nvPr/>
        </p:nvSpPr>
        <p:spPr>
          <a:xfrm>
            <a:off x="731520" y="2103120"/>
            <a:ext cx="5120640" cy="39319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2377440"/>
            <a:ext cx="27432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Skill profile</a:t>
            </a:r>
          </a:p>
        </p:txBody>
      </p:sp>
      <p:sp>
        <p:nvSpPr>
          <p:cNvPr id="7" name="TextBox 6"/>
          <p:cNvSpPr txBox="1"/>
          <p:nvPr/>
        </p:nvSpPr>
        <p:spPr>
          <a:xfrm>
            <a:off x="1051560" y="2834640"/>
            <a:ext cx="3657600" cy="822960"/>
          </a:xfrm>
          <a:prstGeom prst="rect">
            <a:avLst/>
          </a:prstGeom>
          <a:noFill/>
        </p:spPr>
        <p:txBody>
          <a:bodyPr wrap="square" lIns="0" rIns="0" tIns="0" bIns="0" anchor="t">
            <a:spAutoFit/>
          </a:bodyPr>
          <a:lstStyle/>
          <a:p>
            <a:pPr algn="l">
              <a:lnSpc>
                <a:spcPct val="115000"/>
              </a:lnSpc>
              <a:spcAft>
                <a:spcPts val="600"/>
              </a:spcAft>
            </a:pPr>
            <a:r>
              <a:rPr sz="4400" b="1">
                <a:solidFill>
                  <a:srgbClr val="4F46E5"/>
                </a:solidFill>
                <a:latin typeface="Cambria"/>
              </a:rPr>
              <a:t>53%</a:t>
            </a:r>
          </a:p>
        </p:txBody>
      </p:sp>
      <p:sp>
        <p:nvSpPr>
          <p:cNvPr id="8" name="TextBox 7"/>
          <p:cNvSpPr txBox="1"/>
          <p:nvPr/>
        </p:nvSpPr>
        <p:spPr>
          <a:xfrm>
            <a:off x="2377440" y="3154680"/>
            <a:ext cx="2743200" cy="3657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overall mastery  ·  Intermediate</a:t>
            </a:r>
          </a:p>
        </p:txBody>
      </p:sp>
      <p:sp>
        <p:nvSpPr>
          <p:cNvPr id="9" name="TextBox 8"/>
          <p:cNvSpPr txBox="1"/>
          <p:nvPr/>
        </p:nvSpPr>
        <p:spPr>
          <a:xfrm>
            <a:off x="1051560" y="388620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Python fundamentals</a:t>
            </a:r>
          </a:p>
        </p:txBody>
      </p:sp>
      <p:sp>
        <p:nvSpPr>
          <p:cNvPr id="10" name="TextBox 9"/>
          <p:cNvSpPr txBox="1"/>
          <p:nvPr/>
        </p:nvSpPr>
        <p:spPr>
          <a:xfrm>
            <a:off x="5029200" y="388620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45%</a:t>
            </a:r>
          </a:p>
        </p:txBody>
      </p:sp>
      <p:sp>
        <p:nvSpPr>
          <p:cNvPr id="11" name="Rounded Rectangle 10"/>
          <p:cNvSpPr/>
          <p:nvPr/>
        </p:nvSpPr>
        <p:spPr>
          <a:xfrm>
            <a:off x="1051560" y="410565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1560" y="4105656"/>
            <a:ext cx="2036826"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429768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Control flow syntax</a:t>
            </a:r>
          </a:p>
        </p:txBody>
      </p:sp>
      <p:sp>
        <p:nvSpPr>
          <p:cNvPr id="14" name="TextBox 13"/>
          <p:cNvSpPr txBox="1"/>
          <p:nvPr/>
        </p:nvSpPr>
        <p:spPr>
          <a:xfrm>
            <a:off x="5029200" y="429768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70%</a:t>
            </a:r>
          </a:p>
        </p:txBody>
      </p:sp>
      <p:sp>
        <p:nvSpPr>
          <p:cNvPr id="15" name="Rounded Rectangle 14"/>
          <p:cNvSpPr/>
          <p:nvPr/>
        </p:nvSpPr>
        <p:spPr>
          <a:xfrm>
            <a:off x="1051560" y="451713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1560" y="4517136"/>
            <a:ext cx="3168396" cy="128016"/>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70916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Basic loops</a:t>
            </a:r>
          </a:p>
        </p:txBody>
      </p:sp>
      <p:sp>
        <p:nvSpPr>
          <p:cNvPr id="18" name="TextBox 17"/>
          <p:cNvSpPr txBox="1"/>
          <p:nvPr/>
        </p:nvSpPr>
        <p:spPr>
          <a:xfrm>
            <a:off x="5029200" y="470916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55%</a:t>
            </a:r>
          </a:p>
        </p:txBody>
      </p:sp>
      <p:sp>
        <p:nvSpPr>
          <p:cNvPr id="19" name="Rounded Rectangle 18"/>
          <p:cNvSpPr/>
          <p:nvPr/>
        </p:nvSpPr>
        <p:spPr>
          <a:xfrm>
            <a:off x="1051560" y="492861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51560" y="4928616"/>
            <a:ext cx="2489454"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12064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Loop helpers (enumerate)</a:t>
            </a:r>
          </a:p>
        </p:txBody>
      </p:sp>
      <p:sp>
        <p:nvSpPr>
          <p:cNvPr id="22" name="TextBox 21"/>
          <p:cNvSpPr txBox="1"/>
          <p:nvPr/>
        </p:nvSpPr>
        <p:spPr>
          <a:xfrm>
            <a:off x="5029200" y="512064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30%</a:t>
            </a:r>
          </a:p>
        </p:txBody>
      </p:sp>
      <p:sp>
        <p:nvSpPr>
          <p:cNvPr id="23" name="Rounded Rectangle 22"/>
          <p:cNvSpPr/>
          <p:nvPr/>
        </p:nvSpPr>
        <p:spPr>
          <a:xfrm>
            <a:off x="1051560" y="534009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51560" y="5340096"/>
            <a:ext cx="1357884" cy="128016"/>
          </a:xfrm>
          <a:prstGeom prst="roundRect">
            <a:avLst>
              <a:gd name="adj" fmla="val 50000"/>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53212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Functions</a:t>
            </a:r>
          </a:p>
        </p:txBody>
      </p:sp>
      <p:sp>
        <p:nvSpPr>
          <p:cNvPr id="26" name="TextBox 25"/>
          <p:cNvSpPr txBox="1"/>
          <p:nvPr/>
        </p:nvSpPr>
        <p:spPr>
          <a:xfrm>
            <a:off x="5029200" y="553212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65%</a:t>
            </a:r>
          </a:p>
        </p:txBody>
      </p:sp>
      <p:sp>
        <p:nvSpPr>
          <p:cNvPr id="27" name="Rounded Rectangle 26"/>
          <p:cNvSpPr/>
          <p:nvPr/>
        </p:nvSpPr>
        <p:spPr>
          <a:xfrm>
            <a:off x="1051560" y="575157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51560" y="5751576"/>
            <a:ext cx="2942082"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09360" y="2103120"/>
            <a:ext cx="5120640" cy="393192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2377440"/>
            <a:ext cx="41148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Your learning plan</a:t>
            </a:r>
          </a:p>
        </p:txBody>
      </p:sp>
      <p:sp>
        <p:nvSpPr>
          <p:cNvPr id="31" name="Oval 30"/>
          <p:cNvSpPr/>
          <p:nvPr/>
        </p:nvSpPr>
        <p:spPr>
          <a:xfrm>
            <a:off x="6629400" y="2971800"/>
            <a:ext cx="365760" cy="36576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32" name="TextBox 31"/>
          <p:cNvSpPr txBox="1"/>
          <p:nvPr/>
        </p:nvSpPr>
        <p:spPr>
          <a:xfrm>
            <a:off x="7132320" y="2990088"/>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Python Syntax Refresher</a:t>
            </a:r>
          </a:p>
        </p:txBody>
      </p:sp>
      <p:sp>
        <p:nvSpPr>
          <p:cNvPr id="33" name="TextBox 32"/>
          <p:cNvSpPr txBox="1"/>
          <p:nvPr/>
        </p:nvSpPr>
        <p:spPr>
          <a:xfrm>
            <a:off x="7132320" y="327355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Fixes the gap that blocks all later code  ·  ~30 min</a:t>
            </a:r>
          </a:p>
        </p:txBody>
      </p:sp>
      <p:sp>
        <p:nvSpPr>
          <p:cNvPr id="34" name="Oval 33"/>
          <p:cNvSpPr/>
          <p:nvPr/>
        </p:nvSpPr>
        <p:spPr>
          <a:xfrm>
            <a:off x="6629400" y="3749039"/>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2</a:t>
            </a:r>
          </a:p>
        </p:txBody>
      </p:sp>
      <p:sp>
        <p:nvSpPr>
          <p:cNvPr id="35" name="TextBox 34"/>
          <p:cNvSpPr txBox="1"/>
          <p:nvPr/>
        </p:nvSpPr>
        <p:spPr>
          <a:xfrm>
            <a:off x="7132320" y="3767327"/>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Fundamentals of Loops</a:t>
            </a:r>
          </a:p>
        </p:txBody>
      </p:sp>
      <p:sp>
        <p:nvSpPr>
          <p:cNvPr id="36" name="TextBox 35"/>
          <p:cNvSpPr txBox="1"/>
          <p:nvPr/>
        </p:nvSpPr>
        <p:spPr>
          <a:xfrm>
            <a:off x="7132320" y="4050791"/>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Iterate over data, the core automation skill  ·  ~40 min</a:t>
            </a:r>
          </a:p>
        </p:txBody>
      </p:sp>
      <p:sp>
        <p:nvSpPr>
          <p:cNvPr id="37" name="Oval 36"/>
          <p:cNvSpPr/>
          <p:nvPr/>
        </p:nvSpPr>
        <p:spPr>
          <a:xfrm>
            <a:off x="6629400" y="4526280"/>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3</a:t>
            </a:r>
          </a:p>
        </p:txBody>
      </p:sp>
      <p:sp>
        <p:nvSpPr>
          <p:cNvPr id="38" name="TextBox 37"/>
          <p:cNvSpPr txBox="1"/>
          <p:nvPr/>
        </p:nvSpPr>
        <p:spPr>
          <a:xfrm>
            <a:off x="7132320" y="4544568"/>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Loop helpers in practice</a:t>
            </a:r>
          </a:p>
        </p:txBody>
      </p:sp>
      <p:sp>
        <p:nvSpPr>
          <p:cNvPr id="39" name="TextBox 38"/>
          <p:cNvSpPr txBox="1"/>
          <p:nvPr/>
        </p:nvSpPr>
        <p:spPr>
          <a:xfrm>
            <a:off x="7132320" y="482803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enumerate, zip, index vs value  ·  ~35 min</a:t>
            </a:r>
          </a:p>
        </p:txBody>
      </p:sp>
      <p:sp>
        <p:nvSpPr>
          <p:cNvPr id="40" name="Oval 39"/>
          <p:cNvSpPr/>
          <p:nvPr/>
        </p:nvSpPr>
        <p:spPr>
          <a:xfrm>
            <a:off x="6629400" y="5303520"/>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4</a:t>
            </a:r>
          </a:p>
        </p:txBody>
      </p:sp>
      <p:sp>
        <p:nvSpPr>
          <p:cNvPr id="41" name="TextBox 40"/>
          <p:cNvSpPr txBox="1"/>
          <p:nvPr/>
        </p:nvSpPr>
        <p:spPr>
          <a:xfrm>
            <a:off x="7132320" y="5321807"/>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Reusable functions</a:t>
            </a:r>
          </a:p>
        </p:txBody>
      </p:sp>
      <p:sp>
        <p:nvSpPr>
          <p:cNvPr id="42" name="TextBox 41"/>
          <p:cNvSpPr txBox="1"/>
          <p:nvPr/>
        </p:nvSpPr>
        <p:spPr>
          <a:xfrm>
            <a:off x="7132320" y="560527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Turn working code into building blocks  ·  ~45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What makes it adaptive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Three feedback loops, not one questionnaire</a:t>
            </a:r>
          </a:p>
        </p:txBody>
      </p:sp>
      <p:sp>
        <p:nvSpPr>
          <p:cNvPr id="5" name="Rounded Rectangle 4"/>
          <p:cNvSpPr/>
          <p:nvPr/>
        </p:nvSpPr>
        <p:spPr>
          <a:xfrm>
            <a:off x="731520" y="2148840"/>
            <a:ext cx="10698480" cy="1143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05840" y="245059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7" name="TextBox 6"/>
          <p:cNvSpPr txBox="1"/>
          <p:nvPr/>
        </p:nvSpPr>
        <p:spPr>
          <a:xfrm>
            <a:off x="1783080" y="233172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Within the skill check</a:t>
            </a:r>
          </a:p>
        </p:txBody>
      </p:sp>
      <p:sp>
        <p:nvSpPr>
          <p:cNvPr id="8" name="TextBox 7"/>
          <p:cNvSpPr txBox="1"/>
          <p:nvPr/>
        </p:nvSpPr>
        <p:spPr>
          <a:xfrm>
            <a:off x="4754880" y="2350008"/>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Each question is written after reading the previous answer. Correct means harder or a new sub-topic; wrong or "I don't know" means easier, or a probe next door.</a:t>
            </a:r>
          </a:p>
        </p:txBody>
      </p:sp>
      <p:sp>
        <p:nvSpPr>
          <p:cNvPr id="9" name="Rounded Rectangle 8"/>
          <p:cNvSpPr/>
          <p:nvPr/>
        </p:nvSpPr>
        <p:spPr>
          <a:xfrm>
            <a:off x="731520" y="3474720"/>
            <a:ext cx="10698480" cy="11430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05840" y="377647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11" name="TextBox 10"/>
          <p:cNvSpPr txBox="1"/>
          <p:nvPr/>
        </p:nvSpPr>
        <p:spPr>
          <a:xfrm>
            <a:off x="1783080" y="365760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Within a lesson</a:t>
            </a:r>
          </a:p>
        </p:txBody>
      </p:sp>
      <p:sp>
        <p:nvSpPr>
          <p:cNvPr id="12" name="TextBox 11"/>
          <p:cNvSpPr txBox="1"/>
          <p:nvPr/>
        </p:nvSpPr>
        <p:spPr>
          <a:xfrm>
            <a:off x="4754880" y="3675887"/>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The tutor teaches one idea, then asks. Struggling gets a different explanation, not a repeat. "I know this" moves faster.</a:t>
            </a:r>
          </a:p>
        </p:txBody>
      </p:sp>
      <p:sp>
        <p:nvSpPr>
          <p:cNvPr id="13" name="Rounded Rectangle 12"/>
          <p:cNvSpPr/>
          <p:nvPr/>
        </p:nvSpPr>
        <p:spPr>
          <a:xfrm>
            <a:off x="731520" y="4800600"/>
            <a:ext cx="10698480" cy="1143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05840" y="510235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15" name="TextBox 14"/>
          <p:cNvSpPr txBox="1"/>
          <p:nvPr/>
        </p:nvSpPr>
        <p:spPr>
          <a:xfrm>
            <a:off x="1783080" y="498348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Across the track</a:t>
            </a:r>
          </a:p>
        </p:txBody>
      </p:sp>
      <p:sp>
        <p:nvSpPr>
          <p:cNvPr id="16" name="TextBox 15"/>
          <p:cNvSpPr txBox="1"/>
          <p:nvPr/>
        </p:nvSpPr>
        <p:spPr>
          <a:xfrm>
            <a:off x="4754880" y="5001768"/>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Quiz grading returns new mastery numbers per sub-topic. The profile moves, and later lessons and quizzes are pitched from the new numbers.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The product is seven prompts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No fine-tuning, no training data - written instructions plus a strict reply format</a:t>
            </a:r>
          </a:p>
        </p:txBody>
      </p:sp>
      <p:sp>
        <p:nvSpPr>
          <p:cNvPr id="5" name="Rounded Rectangle 4"/>
          <p:cNvSpPr/>
          <p:nvPr/>
        </p:nvSpPr>
        <p:spPr>
          <a:xfrm>
            <a:off x="7315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01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Assessor</a:t>
            </a:r>
          </a:p>
        </p:txBody>
      </p:sp>
      <p:sp>
        <p:nvSpPr>
          <p:cNvPr id="7" name="TextBox 6"/>
          <p:cNvSpPr txBox="1"/>
          <p:nvPr/>
        </p:nvSpPr>
        <p:spPr>
          <a:xfrm>
            <a:off x="9601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One adaptive question at a time</a:t>
            </a:r>
          </a:p>
        </p:txBody>
      </p:sp>
      <p:sp>
        <p:nvSpPr>
          <p:cNvPr id="8" name="Rounded Rectangle 7"/>
          <p:cNvSpPr/>
          <p:nvPr/>
        </p:nvSpPr>
        <p:spPr>
          <a:xfrm>
            <a:off x="34747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033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Analyst</a:t>
            </a:r>
          </a:p>
        </p:txBody>
      </p:sp>
      <p:sp>
        <p:nvSpPr>
          <p:cNvPr id="10" name="TextBox 9"/>
          <p:cNvSpPr txBox="1"/>
          <p:nvPr/>
        </p:nvSpPr>
        <p:spPr>
          <a:xfrm>
            <a:off x="37033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Answers to mastery scores</a:t>
            </a:r>
          </a:p>
        </p:txBody>
      </p:sp>
      <p:sp>
        <p:nvSpPr>
          <p:cNvPr id="11" name="Rounded Rectangle 10"/>
          <p:cNvSpPr/>
          <p:nvPr/>
        </p:nvSpPr>
        <p:spPr>
          <a:xfrm>
            <a:off x="62179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465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Planner</a:t>
            </a:r>
          </a:p>
        </p:txBody>
      </p:sp>
      <p:sp>
        <p:nvSpPr>
          <p:cNvPr id="13" name="TextBox 12"/>
          <p:cNvSpPr txBox="1"/>
          <p:nvPr/>
        </p:nvSpPr>
        <p:spPr>
          <a:xfrm>
            <a:off x="64465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Modules ordered by what blocks the goal</a:t>
            </a:r>
          </a:p>
        </p:txBody>
      </p:sp>
      <p:sp>
        <p:nvSpPr>
          <p:cNvPr id="14" name="Rounded Rectangle 13"/>
          <p:cNvSpPr/>
          <p:nvPr/>
        </p:nvSpPr>
        <p:spPr>
          <a:xfrm>
            <a:off x="89611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897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Course scout</a:t>
            </a:r>
          </a:p>
        </p:txBody>
      </p:sp>
      <p:sp>
        <p:nvSpPr>
          <p:cNvPr id="16" name="TextBox 15"/>
          <p:cNvSpPr txBox="1"/>
          <p:nvPr/>
        </p:nvSpPr>
        <p:spPr>
          <a:xfrm>
            <a:off x="91897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Real courses, never invented</a:t>
            </a:r>
          </a:p>
        </p:txBody>
      </p:sp>
      <p:sp>
        <p:nvSpPr>
          <p:cNvPr id="17" name="Rounded Rectangle 16"/>
          <p:cNvSpPr/>
          <p:nvPr/>
        </p:nvSpPr>
        <p:spPr>
          <a:xfrm>
            <a:off x="7315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01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Tutor</a:t>
            </a:r>
          </a:p>
        </p:txBody>
      </p:sp>
      <p:sp>
        <p:nvSpPr>
          <p:cNvPr id="19" name="TextBox 18"/>
          <p:cNvSpPr txBox="1"/>
          <p:nvPr/>
        </p:nvSpPr>
        <p:spPr>
          <a:xfrm>
            <a:off x="9601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Teach a step, then ask</a:t>
            </a:r>
          </a:p>
        </p:txBody>
      </p:sp>
      <p:sp>
        <p:nvSpPr>
          <p:cNvPr id="20" name="Rounded Rectangle 19"/>
          <p:cNvSpPr/>
          <p:nvPr/>
        </p:nvSpPr>
        <p:spPr>
          <a:xfrm>
            <a:off x="34747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7033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Quiz writer</a:t>
            </a:r>
          </a:p>
        </p:txBody>
      </p:sp>
      <p:sp>
        <p:nvSpPr>
          <p:cNvPr id="22" name="TextBox 21"/>
          <p:cNvSpPr txBox="1"/>
          <p:nvPr/>
        </p:nvSpPr>
        <p:spPr>
          <a:xfrm>
            <a:off x="37033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4 questions on this module</a:t>
            </a:r>
          </a:p>
        </p:txBody>
      </p:sp>
      <p:sp>
        <p:nvSpPr>
          <p:cNvPr id="23" name="Rounded Rectangle 22"/>
          <p:cNvSpPr/>
          <p:nvPr/>
        </p:nvSpPr>
        <p:spPr>
          <a:xfrm>
            <a:off x="62179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465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Grader</a:t>
            </a:r>
          </a:p>
        </p:txBody>
      </p:sp>
      <p:sp>
        <p:nvSpPr>
          <p:cNvPr id="25" name="TextBox 24"/>
          <p:cNvSpPr txBox="1"/>
          <p:nvPr/>
        </p:nvSpPr>
        <p:spPr>
          <a:xfrm>
            <a:off x="64465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Mark fairly, update mastery</a:t>
            </a:r>
          </a:p>
        </p:txBody>
      </p:sp>
      <p:sp>
        <p:nvSpPr>
          <p:cNvPr id="26" name="Rounded Rectangle 25"/>
          <p:cNvSpPr/>
          <p:nvPr/>
        </p:nvSpPr>
        <p:spPr>
          <a:xfrm>
            <a:off x="731520" y="5029200"/>
            <a:ext cx="10698480" cy="12344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 y="5230368"/>
            <a:ext cx="10058400" cy="32004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Each prompt pairs with a schema the reply must match</a:t>
            </a:r>
          </a:p>
        </p:txBody>
      </p:sp>
      <p:sp>
        <p:nvSpPr>
          <p:cNvPr id="28" name="TextBox 27"/>
          <p:cNvSpPr txBox="1"/>
          <p:nvPr/>
        </p:nvSpPr>
        <p:spPr>
          <a:xfrm>
            <a:off x="1051560" y="5623560"/>
            <a:ext cx="10058400" cy="54864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Numbers not adjectives ("6 to 10 questions", "exactly 4 options") · defined scales (mastery 0-20, 21-40, ...) · named failure modes ("never invent titles") · learner text wrapped in tags and treated as data, never instructions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Anatomy of one request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The skill check, exactly as it is sent</a:t>
            </a:r>
          </a:p>
        </p:txBody>
      </p:sp>
      <p:sp>
        <p:nvSpPr>
          <p:cNvPr id="5" name="Rounded Rectangle 4"/>
          <p:cNvSpPr/>
          <p:nvPr/>
        </p:nvSpPr>
        <p:spPr>
          <a:xfrm>
            <a:off x="731520" y="2148840"/>
            <a:ext cx="5120640" cy="38404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2377440"/>
            <a:ext cx="4389120" cy="32004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What goes to the model</a:t>
            </a:r>
          </a:p>
        </p:txBody>
      </p:sp>
      <p:sp>
        <p:nvSpPr>
          <p:cNvPr id="7" name="Rounded Rectangle 6"/>
          <p:cNvSpPr/>
          <p:nvPr/>
        </p:nvSpPr>
        <p:spPr>
          <a:xfrm>
            <a:off x="1051560" y="283464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80160" y="290779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System prompt</a:t>
            </a:r>
          </a:p>
        </p:txBody>
      </p:sp>
      <p:sp>
        <p:nvSpPr>
          <p:cNvPr id="9" name="TextBox 8"/>
          <p:cNvSpPr txBox="1"/>
          <p:nvPr/>
        </p:nvSpPr>
        <p:spPr>
          <a:xfrm>
            <a:off x="1280160" y="316382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The assessor's role and rules - stable, so it caches</a:t>
            </a:r>
          </a:p>
        </p:txBody>
      </p:sp>
      <p:sp>
        <p:nvSpPr>
          <p:cNvPr id="10" name="Rounded Rectangle 9"/>
          <p:cNvSpPr/>
          <p:nvPr/>
        </p:nvSpPr>
        <p:spPr>
          <a:xfrm>
            <a:off x="1051560" y="361188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80160" y="368503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Learner intro</a:t>
            </a:r>
          </a:p>
        </p:txBody>
      </p:sp>
      <p:sp>
        <p:nvSpPr>
          <p:cNvPr id="12" name="TextBox 11"/>
          <p:cNvSpPr txBox="1"/>
          <p:nvPr/>
        </p:nvSpPr>
        <p:spPr>
          <a:xfrm>
            <a:off x="1280160" y="394106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Skill, goal, and their own words about experience</a:t>
            </a:r>
          </a:p>
        </p:txBody>
      </p:sp>
      <p:sp>
        <p:nvSpPr>
          <p:cNvPr id="13" name="Rounded Rectangle 12"/>
          <p:cNvSpPr/>
          <p:nvPr/>
        </p:nvSpPr>
        <p:spPr>
          <a:xfrm>
            <a:off x="1051560" y="438912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446227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The conversation</a:t>
            </a:r>
          </a:p>
        </p:txBody>
      </p:sp>
      <p:sp>
        <p:nvSpPr>
          <p:cNvPr id="15" name="TextBox 14"/>
          <p:cNvSpPr txBox="1"/>
          <p:nvPr/>
        </p:nvSpPr>
        <p:spPr>
          <a:xfrm>
            <a:off x="1280160" y="471830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Its own previous questions replayed as JSON, plus every answer</a:t>
            </a:r>
          </a:p>
        </p:txBody>
      </p:sp>
      <p:sp>
        <p:nvSpPr>
          <p:cNvPr id="16" name="Rounded Rectangle 15"/>
          <p:cNvSpPr/>
          <p:nvPr/>
        </p:nvSpPr>
        <p:spPr>
          <a:xfrm>
            <a:off x="1051560" y="516636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80160" y="523951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JSON schema</a:t>
            </a:r>
          </a:p>
        </p:txBody>
      </p:sp>
      <p:sp>
        <p:nvSpPr>
          <p:cNvPr id="18" name="TextBox 17"/>
          <p:cNvSpPr txBox="1"/>
          <p:nvPr/>
        </p:nvSpPr>
        <p:spPr>
          <a:xfrm>
            <a:off x="1280160" y="549554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Enums, required fields, no extras allowed</a:t>
            </a:r>
          </a:p>
        </p:txBody>
      </p:sp>
      <p:sp>
        <p:nvSpPr>
          <p:cNvPr id="19" name="Rounded Rectangle 18"/>
          <p:cNvSpPr/>
          <p:nvPr/>
        </p:nvSpPr>
        <p:spPr>
          <a:xfrm>
            <a:off x="6309360" y="2148840"/>
            <a:ext cx="5120640" cy="384048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29400" y="2377440"/>
            <a:ext cx="438912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What happens to the reply</a:t>
            </a:r>
          </a:p>
        </p:txBody>
      </p:sp>
      <p:sp>
        <p:nvSpPr>
          <p:cNvPr id="21" name="Oval 20"/>
          <p:cNvSpPr/>
          <p:nvPr/>
        </p:nvSpPr>
        <p:spPr>
          <a:xfrm>
            <a:off x="6629400" y="2834640"/>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1</a:t>
            </a:r>
          </a:p>
        </p:txBody>
      </p:sp>
      <p:sp>
        <p:nvSpPr>
          <p:cNvPr id="22" name="TextBox 21"/>
          <p:cNvSpPr txBox="1"/>
          <p:nvPr/>
        </p:nvSpPr>
        <p:spPr>
          <a:xfrm>
            <a:off x="7040880" y="2834640"/>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Constrain</a:t>
            </a:r>
          </a:p>
        </p:txBody>
      </p:sp>
      <p:sp>
        <p:nvSpPr>
          <p:cNvPr id="23" name="TextBox 22"/>
          <p:cNvSpPr txBox="1"/>
          <p:nvPr/>
        </p:nvSpPr>
        <p:spPr>
          <a:xfrm>
            <a:off x="8229600" y="2852928"/>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schema enforced by the API where supported</a:t>
            </a:r>
          </a:p>
        </p:txBody>
      </p:sp>
      <p:sp>
        <p:nvSpPr>
          <p:cNvPr id="24" name="Oval 23"/>
          <p:cNvSpPr/>
          <p:nvPr/>
        </p:nvSpPr>
        <p:spPr>
          <a:xfrm>
            <a:off x="6629400" y="3456432"/>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2</a:t>
            </a:r>
          </a:p>
        </p:txBody>
      </p:sp>
      <p:sp>
        <p:nvSpPr>
          <p:cNvPr id="25" name="TextBox 24"/>
          <p:cNvSpPr txBox="1"/>
          <p:nvPr/>
        </p:nvSpPr>
        <p:spPr>
          <a:xfrm>
            <a:off x="7040880" y="345643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Extract</a:t>
            </a:r>
          </a:p>
        </p:txBody>
      </p:sp>
      <p:sp>
        <p:nvSpPr>
          <p:cNvPr id="26" name="TextBox 25"/>
          <p:cNvSpPr txBox="1"/>
          <p:nvPr/>
        </p:nvSpPr>
        <p:spPr>
          <a:xfrm>
            <a:off x="8229600" y="3474720"/>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strip reasoning blocks, fences, stray prose</a:t>
            </a:r>
          </a:p>
        </p:txBody>
      </p:sp>
      <p:sp>
        <p:nvSpPr>
          <p:cNvPr id="27" name="Oval 26"/>
          <p:cNvSpPr/>
          <p:nvPr/>
        </p:nvSpPr>
        <p:spPr>
          <a:xfrm>
            <a:off x="6629400" y="4078224"/>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3</a:t>
            </a:r>
          </a:p>
        </p:txBody>
      </p:sp>
      <p:sp>
        <p:nvSpPr>
          <p:cNvPr id="28" name="TextBox 27"/>
          <p:cNvSpPr txBox="1"/>
          <p:nvPr/>
        </p:nvSpPr>
        <p:spPr>
          <a:xfrm>
            <a:off x="7040880" y="4078224"/>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Validate</a:t>
            </a:r>
          </a:p>
        </p:txBody>
      </p:sp>
      <p:sp>
        <p:nvSpPr>
          <p:cNvPr id="29" name="TextBox 28"/>
          <p:cNvSpPr txBox="1"/>
          <p:nvPr/>
        </p:nvSpPr>
        <p:spPr>
          <a:xfrm>
            <a:off x="8229600" y="4096511"/>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Zod - the app's types come from the same schema</a:t>
            </a:r>
          </a:p>
        </p:txBody>
      </p:sp>
      <p:sp>
        <p:nvSpPr>
          <p:cNvPr id="30" name="Oval 29"/>
          <p:cNvSpPr/>
          <p:nvPr/>
        </p:nvSpPr>
        <p:spPr>
          <a:xfrm>
            <a:off x="6629400" y="4700016"/>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4</a:t>
            </a:r>
          </a:p>
        </p:txBody>
      </p:sp>
      <p:sp>
        <p:nvSpPr>
          <p:cNvPr id="31" name="TextBox 30"/>
          <p:cNvSpPr txBox="1"/>
          <p:nvPr/>
        </p:nvSpPr>
        <p:spPr>
          <a:xfrm>
            <a:off x="7040880" y="4700016"/>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Repair</a:t>
            </a:r>
          </a:p>
        </p:txBody>
      </p:sp>
      <p:sp>
        <p:nvSpPr>
          <p:cNvPr id="32" name="TextBox 31"/>
          <p:cNvSpPr txBox="1"/>
          <p:nvPr/>
        </p:nvSpPr>
        <p:spPr>
          <a:xfrm>
            <a:off x="8229600" y="4718304"/>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hand the problem back to the model, up to twice</a:t>
            </a:r>
          </a:p>
        </p:txBody>
      </p:sp>
      <p:sp>
        <p:nvSpPr>
          <p:cNvPr id="33" name="Oval 32"/>
          <p:cNvSpPr/>
          <p:nvPr/>
        </p:nvSpPr>
        <p:spPr>
          <a:xfrm>
            <a:off x="6629400" y="5321808"/>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5</a:t>
            </a:r>
          </a:p>
        </p:txBody>
      </p:sp>
      <p:sp>
        <p:nvSpPr>
          <p:cNvPr id="34" name="TextBox 33"/>
          <p:cNvSpPr txBox="1"/>
          <p:nvPr/>
        </p:nvSpPr>
        <p:spPr>
          <a:xfrm>
            <a:off x="7040880" y="5321808"/>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Persist</a:t>
            </a:r>
          </a:p>
        </p:txBody>
      </p:sp>
      <p:sp>
        <p:nvSpPr>
          <p:cNvPr id="35" name="TextBox 34"/>
          <p:cNvSpPr txBox="1"/>
          <p:nvPr/>
        </p:nvSpPr>
        <p:spPr>
          <a:xfrm>
            <a:off x="8229600" y="5340096"/>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saved to the track, and feeds the next prompt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What Claude gives us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The default provider, and the features the app is built around</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Structured outputs</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Replies constrained to our JSON schema - no parsing guesswork</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Adaptive thinking</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Claude decides when to reason; no fixed thinking budget to pay for</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Effort control</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Defaults to low to keep token use down; raise it for grading</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Prompt caching</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The conversation is re-sent every turn - caching makes repeats cheap</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Refusal handling</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declined request becomes a clear message, not a crash</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Streaming + abort</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Lessons appear word by word; Stop keeps the partial reply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It also tells you where to learn it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8-12 real courses and materials, chosen for the learner's goal and gaps</a:t>
            </a:r>
          </a:p>
        </p:txBody>
      </p:sp>
      <p:sp>
        <p:nvSpPr>
          <p:cNvPr id="5" name="Rounded Rectangle 4"/>
          <p:cNvSpPr/>
          <p:nvPr/>
        </p:nvSpPr>
        <p:spPr>
          <a:xfrm>
            <a:off x="73152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YouTube</a:t>
            </a:r>
          </a:p>
        </p:txBody>
      </p:sp>
      <p:sp>
        <p:nvSpPr>
          <p:cNvPr id="7" name="Rounded Rectangle 6"/>
          <p:cNvSpPr/>
          <p:nvPr/>
        </p:nvSpPr>
        <p:spPr>
          <a:xfrm>
            <a:off x="292608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Udemy</a:t>
            </a:r>
          </a:p>
        </p:txBody>
      </p:sp>
      <p:sp>
        <p:nvSpPr>
          <p:cNvPr id="9" name="Rounded Rectangle 8"/>
          <p:cNvSpPr/>
          <p:nvPr/>
        </p:nvSpPr>
        <p:spPr>
          <a:xfrm>
            <a:off x="512064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2064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Coursera</a:t>
            </a:r>
          </a:p>
        </p:txBody>
      </p:sp>
      <p:sp>
        <p:nvSpPr>
          <p:cNvPr id="11" name="Rounded Rectangle 10"/>
          <p:cNvSpPr/>
          <p:nvPr/>
        </p:nvSpPr>
        <p:spPr>
          <a:xfrm>
            <a:off x="7315199"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199"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edX</a:t>
            </a:r>
          </a:p>
        </p:txBody>
      </p:sp>
      <p:sp>
        <p:nvSpPr>
          <p:cNvPr id="13" name="Rounded Rectangle 12"/>
          <p:cNvSpPr/>
          <p:nvPr/>
        </p:nvSpPr>
        <p:spPr>
          <a:xfrm>
            <a:off x="950976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freeCodeCamp</a:t>
            </a:r>
          </a:p>
        </p:txBody>
      </p:sp>
      <p:sp>
        <p:nvSpPr>
          <p:cNvPr id="15" name="Rounded Rectangle 14"/>
          <p:cNvSpPr/>
          <p:nvPr/>
        </p:nvSpPr>
        <p:spPr>
          <a:xfrm>
            <a:off x="73152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Pluralsight</a:t>
            </a:r>
          </a:p>
        </p:txBody>
      </p:sp>
      <p:sp>
        <p:nvSpPr>
          <p:cNvPr id="17" name="Rounded Rectangle 16"/>
          <p:cNvSpPr/>
          <p:nvPr/>
        </p:nvSpPr>
        <p:spPr>
          <a:xfrm>
            <a:off x="292608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92608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LinkedIn Learning</a:t>
            </a:r>
          </a:p>
        </p:txBody>
      </p:sp>
      <p:sp>
        <p:nvSpPr>
          <p:cNvPr id="19" name="Rounded Rectangle 18"/>
          <p:cNvSpPr/>
          <p:nvPr/>
        </p:nvSpPr>
        <p:spPr>
          <a:xfrm>
            <a:off x="512064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12064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Real Python</a:t>
            </a:r>
          </a:p>
        </p:txBody>
      </p:sp>
      <p:sp>
        <p:nvSpPr>
          <p:cNvPr id="21" name="Rounded Rectangle 20"/>
          <p:cNvSpPr/>
          <p:nvPr/>
        </p:nvSpPr>
        <p:spPr>
          <a:xfrm>
            <a:off x="7315199"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199"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Official docs</a:t>
            </a:r>
          </a:p>
        </p:txBody>
      </p:sp>
      <p:sp>
        <p:nvSpPr>
          <p:cNvPr id="23" name="Rounded Rectangle 22"/>
          <p:cNvSpPr/>
          <p:nvPr/>
        </p:nvSpPr>
        <p:spPr>
          <a:xfrm>
            <a:off x="950976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50976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Exercism</a:t>
            </a:r>
          </a:p>
        </p:txBody>
      </p:sp>
      <p:sp>
        <p:nvSpPr>
          <p:cNvPr id="25" name="Rounded Rectangle 24"/>
          <p:cNvSpPr/>
          <p:nvPr/>
        </p:nvSpPr>
        <p:spPr>
          <a:xfrm>
            <a:off x="731520" y="3931920"/>
            <a:ext cx="5257800" cy="2011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420624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Every card tells you</a:t>
            </a:r>
          </a:p>
        </p:txBody>
      </p:sp>
      <p:sp>
        <p:nvSpPr>
          <p:cNvPr id="27" name="TextBox 26"/>
          <p:cNvSpPr txBox="1"/>
          <p:nvPr/>
        </p:nvSpPr>
        <p:spPr>
          <a:xfrm>
            <a:off x="1051560" y="4663440"/>
            <a:ext cx="4663440" cy="1097280"/>
          </a:xfrm>
          <a:prstGeom prst="rect">
            <a:avLst/>
          </a:prstGeom>
          <a:noFill/>
        </p:spPr>
        <p:txBody>
          <a:bodyPr wrap="square" lIns="0" rIns="0" tIns="0" bIns="0" anchor="t">
            <a:spAutoFit/>
          </a:bodyPr>
          <a:lstStyle/>
          <a:p>
            <a:pPr algn="l">
              <a:lnSpc>
                <a:spcPct val="115000"/>
              </a:lnSpc>
              <a:spcAft>
                <a:spcPts val="500"/>
              </a:spcAft>
            </a:pPr>
            <a:r>
              <a:rPr sz="1250" b="0">
                <a:solidFill>
                  <a:srgbClr val="475569"/>
                </a:solidFill>
                <a:latin typeface="Calibri"/>
              </a:rPr>
              <a:t>Platform, cost (free / free to audit / paid), level and hours</a:t>
            </a:r>
          </a:p>
          <a:p>
            <a:pPr algn="l">
              <a:lnSpc>
                <a:spcPct val="115000"/>
              </a:lnSpc>
              <a:spcAft>
                <a:spcPts val="500"/>
              </a:spcAft>
            </a:pPr>
            <a:r>
              <a:rPr sz="1250" b="0">
                <a:solidFill>
                  <a:srgbClr val="475569"/>
                </a:solidFill>
                <a:latin typeface="Calibri"/>
              </a:rPr>
              <a:t>Why it suits this learner and which gaps it covers</a:t>
            </a:r>
          </a:p>
          <a:p>
            <a:pPr algn="l">
              <a:lnSpc>
                <a:spcPct val="115000"/>
              </a:lnSpc>
              <a:spcAft>
                <a:spcPts val="500"/>
              </a:spcAft>
            </a:pPr>
            <a:r>
              <a:rPr sz="1250" b="0">
                <a:solidFill>
                  <a:srgbClr val="475569"/>
                </a:solidFill>
                <a:latin typeface="Calibri"/>
              </a:rPr>
              <a:t>A Top pick badge for where to start</a:t>
            </a:r>
          </a:p>
        </p:txBody>
      </p:sp>
      <p:sp>
        <p:nvSpPr>
          <p:cNvPr id="28" name="Rounded Rectangle 27"/>
          <p:cNvSpPr/>
          <p:nvPr/>
        </p:nvSpPr>
        <p:spPr>
          <a:xfrm>
            <a:off x="6172200" y="3931920"/>
            <a:ext cx="5257800" cy="201168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92240" y="420624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FFFFFF"/>
                </a:solidFill>
                <a:latin typeface="Cambria"/>
              </a:rPr>
              <a:t>No broken links, by design</a:t>
            </a:r>
          </a:p>
        </p:txBody>
      </p:sp>
      <p:sp>
        <p:nvSpPr>
          <p:cNvPr id="30" name="TextBox 29"/>
          <p:cNvSpPr txBox="1"/>
          <p:nvPr/>
        </p:nvSpPr>
        <p:spPr>
          <a:xfrm>
            <a:off x="6492240" y="4663440"/>
            <a:ext cx="4663440" cy="1188720"/>
          </a:xfrm>
          <a:prstGeom prst="rect">
            <a:avLst/>
          </a:prstGeom>
          <a:noFill/>
        </p:spPr>
        <p:txBody>
          <a:bodyPr wrap="square" lIns="0" rIns="0" tIns="0" bIns="0" anchor="t">
            <a:spAutoFit/>
          </a:bodyPr>
          <a:lstStyle/>
          <a:p>
            <a:pPr algn="l">
              <a:lnSpc>
                <a:spcPct val="115000"/>
              </a:lnSpc>
              <a:spcAft>
                <a:spcPts val="500"/>
              </a:spcAft>
            </a:pPr>
            <a:r>
              <a:rPr sz="1250" b="0">
                <a:solidFill>
                  <a:srgbClr val="C7D2FE"/>
                </a:solidFill>
                <a:latin typeface="Calibri"/>
              </a:rPr>
              <a:t>AI models invent course URLs that 404.</a:t>
            </a:r>
          </a:p>
          <a:p>
            <a:pPr algn="l">
              <a:lnSpc>
                <a:spcPct val="115000"/>
              </a:lnSpc>
              <a:spcAft>
                <a:spcPts val="500"/>
              </a:spcAft>
            </a:pPr>
            <a:r>
              <a:rPr sz="1250" b="0">
                <a:solidFill>
                  <a:srgbClr val="C7D2FE"/>
                </a:solidFill>
                <a:latin typeface="Calibri"/>
              </a:rPr>
              <a:t>So the button runs a search for the exact title on that platform.</a:t>
            </a:r>
          </a:p>
          <a:p>
            <a:pPr algn="l">
              <a:lnSpc>
                <a:spcPct val="115000"/>
              </a:lnSpc>
              <a:spcAft>
                <a:spcPts val="500"/>
              </a:spcAft>
            </a:pPr>
            <a:r>
              <a:rPr sz="1250" b="0">
                <a:solidFill>
                  <a:srgbClr val="C7D2FE"/>
                </a:solidFill>
                <a:latin typeface="Calibri"/>
              </a:rPr>
              <a:t>A direct link shows only if it is https and on that platform's domain.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Works with any major AI provider</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Pick one in the app, switch any time - keys stay in your browser</a:t>
            </a:r>
          </a:p>
        </p:txBody>
      </p:sp>
      <p:sp>
        <p:nvSpPr>
          <p:cNvPr id="5" name="Rounded Rectangle 4"/>
          <p:cNvSpPr/>
          <p:nvPr/>
        </p:nvSpPr>
        <p:spPr>
          <a:xfrm>
            <a:off x="73152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31520" y="2194560"/>
            <a:ext cx="3383280" cy="640080"/>
          </a:xfrm>
          <a:prstGeom prst="roundRect">
            <a:avLst>
              <a:gd name="adj" fmla="val 2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Free tier / credits</a:t>
            </a:r>
          </a:p>
        </p:txBody>
      </p:sp>
      <p:sp>
        <p:nvSpPr>
          <p:cNvPr id="8" name="TextBox 7"/>
          <p:cNvSpPr txBox="1"/>
          <p:nvPr/>
        </p:nvSpPr>
        <p:spPr>
          <a:xfrm>
            <a:off x="1005840"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Google Gemini</a:t>
            </a:r>
          </a:p>
          <a:p>
            <a:pPr algn="l">
              <a:lnSpc>
                <a:spcPct val="115000"/>
              </a:lnSpc>
              <a:spcAft>
                <a:spcPts val="700"/>
              </a:spcAft>
            </a:pPr>
            <a:r>
              <a:rPr sz="1250" b="0">
                <a:solidFill>
                  <a:srgbClr val="475569"/>
                </a:solidFill>
                <a:latin typeface="Calibri"/>
              </a:rPr>
              <a:t>Groq</a:t>
            </a:r>
          </a:p>
          <a:p>
            <a:pPr algn="l">
              <a:lnSpc>
                <a:spcPct val="115000"/>
              </a:lnSpc>
              <a:spcAft>
                <a:spcPts val="700"/>
              </a:spcAft>
            </a:pPr>
            <a:r>
              <a:rPr sz="1250" b="0">
                <a:solidFill>
                  <a:srgbClr val="475569"/>
                </a:solidFill>
                <a:latin typeface="Calibri"/>
              </a:rPr>
              <a:t>OpenRouter</a:t>
            </a:r>
          </a:p>
          <a:p>
            <a:pPr algn="l">
              <a:lnSpc>
                <a:spcPct val="115000"/>
              </a:lnSpc>
              <a:spcAft>
                <a:spcPts val="700"/>
              </a:spcAft>
            </a:pPr>
            <a:r>
              <a:rPr sz="1250" b="0">
                <a:solidFill>
                  <a:srgbClr val="475569"/>
                </a:solidFill>
                <a:latin typeface="Calibri"/>
              </a:rPr>
              <a:t>Mistral</a:t>
            </a:r>
          </a:p>
          <a:p>
            <a:pPr algn="l">
              <a:lnSpc>
                <a:spcPct val="115000"/>
              </a:lnSpc>
              <a:spcAft>
                <a:spcPts val="700"/>
              </a:spcAft>
            </a:pPr>
            <a:r>
              <a:rPr sz="1250" b="0">
                <a:solidFill>
                  <a:srgbClr val="475569"/>
                </a:solidFill>
                <a:latin typeface="Calibri"/>
              </a:rPr>
              <a:t>Cerebras</a:t>
            </a:r>
          </a:p>
          <a:p>
            <a:pPr algn="l">
              <a:lnSpc>
                <a:spcPct val="115000"/>
              </a:lnSpc>
              <a:spcAft>
                <a:spcPts val="700"/>
              </a:spcAft>
            </a:pPr>
            <a:r>
              <a:rPr sz="1250" b="0">
                <a:solidFill>
                  <a:srgbClr val="475569"/>
                </a:solidFill>
                <a:latin typeface="Calibri"/>
              </a:rPr>
              <a:t>Hugging Face</a:t>
            </a:r>
          </a:p>
          <a:p>
            <a:pPr algn="l">
              <a:lnSpc>
                <a:spcPct val="115000"/>
              </a:lnSpc>
              <a:spcAft>
                <a:spcPts val="700"/>
              </a:spcAft>
            </a:pPr>
            <a:r>
              <a:rPr sz="1250" b="0">
                <a:solidFill>
                  <a:srgbClr val="475569"/>
                </a:solidFill>
                <a:latin typeface="Calibri"/>
              </a:rPr>
              <a:t>Cohere</a:t>
            </a:r>
          </a:p>
        </p:txBody>
      </p:sp>
      <p:sp>
        <p:nvSpPr>
          <p:cNvPr id="9" name="Rounded Rectangle 8"/>
          <p:cNvSpPr/>
          <p:nvPr/>
        </p:nvSpPr>
        <p:spPr>
          <a:xfrm>
            <a:off x="443484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434840" y="2194560"/>
            <a:ext cx="3383280" cy="640080"/>
          </a:xfrm>
          <a:prstGeom prst="roundRect">
            <a:avLst>
              <a:gd name="adj" fmla="val 20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09159"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Paid</a:t>
            </a:r>
          </a:p>
        </p:txBody>
      </p:sp>
      <p:sp>
        <p:nvSpPr>
          <p:cNvPr id="12" name="TextBox 11"/>
          <p:cNvSpPr txBox="1"/>
          <p:nvPr/>
        </p:nvSpPr>
        <p:spPr>
          <a:xfrm>
            <a:off x="4709159"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Anthropic Claude (default)</a:t>
            </a:r>
          </a:p>
          <a:p>
            <a:pPr algn="l">
              <a:lnSpc>
                <a:spcPct val="115000"/>
              </a:lnSpc>
              <a:spcAft>
                <a:spcPts val="700"/>
              </a:spcAft>
            </a:pPr>
            <a:r>
              <a:rPr sz="1250" b="0">
                <a:solidFill>
                  <a:srgbClr val="475569"/>
                </a:solidFill>
                <a:latin typeface="Calibri"/>
              </a:rPr>
              <a:t>OpenAI</a:t>
            </a:r>
          </a:p>
          <a:p>
            <a:pPr algn="l">
              <a:lnSpc>
                <a:spcPct val="115000"/>
              </a:lnSpc>
              <a:spcAft>
                <a:spcPts val="700"/>
              </a:spcAft>
            </a:pPr>
            <a:r>
              <a:rPr sz="1250" b="0">
                <a:solidFill>
                  <a:srgbClr val="475569"/>
                </a:solidFill>
                <a:latin typeface="Calibri"/>
              </a:rPr>
              <a:t>DeepSeek</a:t>
            </a:r>
          </a:p>
          <a:p>
            <a:pPr algn="l">
              <a:lnSpc>
                <a:spcPct val="115000"/>
              </a:lnSpc>
              <a:spcAft>
                <a:spcPts val="700"/>
              </a:spcAft>
            </a:pPr>
            <a:r>
              <a:rPr sz="1250" b="0">
                <a:solidFill>
                  <a:srgbClr val="475569"/>
                </a:solidFill>
                <a:latin typeface="Calibri"/>
              </a:rPr>
              <a:t>xAI Grok</a:t>
            </a:r>
          </a:p>
        </p:txBody>
      </p:sp>
      <p:sp>
        <p:nvSpPr>
          <p:cNvPr id="13" name="Rounded Rectangle 12"/>
          <p:cNvSpPr/>
          <p:nvPr/>
        </p:nvSpPr>
        <p:spPr>
          <a:xfrm>
            <a:off x="813816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138160" y="2194560"/>
            <a:ext cx="3383280" cy="640080"/>
          </a:xfrm>
          <a:prstGeom prst="roundRect">
            <a:avLst>
              <a:gd name="adj" fmla="val 2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Custom</a:t>
            </a:r>
          </a:p>
        </p:txBody>
      </p:sp>
      <p:sp>
        <p:nvSpPr>
          <p:cNvPr id="16" name="TextBox 15"/>
          <p:cNvSpPr txBox="1"/>
          <p:nvPr/>
        </p:nvSpPr>
        <p:spPr>
          <a:xfrm>
            <a:off x="8412480"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Any OpenAI-compatible endpoint</a:t>
            </a:r>
          </a:p>
          <a:p>
            <a:pPr algn="l">
              <a:lnSpc>
                <a:spcPct val="115000"/>
              </a:lnSpc>
              <a:spcAft>
                <a:spcPts val="700"/>
              </a:spcAft>
            </a:pPr>
            <a:r>
              <a:rPr sz="1250" b="0">
                <a:solidFill>
                  <a:srgbClr val="475569"/>
                </a:solidFill>
                <a:latin typeface="Calibri"/>
              </a:rPr>
              <a:t>e.g. a company AI gateway</a:t>
            </a:r>
          </a:p>
          <a:p>
            <a:pPr algn="l">
              <a:lnSpc>
                <a:spcPct val="115000"/>
              </a:lnSpc>
              <a:spcAft>
                <a:spcPts val="700"/>
              </a:spcAft>
            </a:pPr>
            <a:r>
              <a:rPr sz="1250" b="0">
                <a:solidFill>
                  <a:srgbClr val="475569"/>
                </a:solidFill>
                <a:latin typeface="Calibri"/>
              </a:rPr>
              <a:t>You set URL, model and key</a:t>
            </a:r>
          </a:p>
        </p:txBody>
      </p:sp>
      <p:sp>
        <p:nvSpPr>
          <p:cNvPr id="17" name="TextBox 16"/>
          <p:cNvSpPr txBox="1"/>
          <p:nvPr/>
        </p:nvSpPr>
        <p:spPr>
          <a:xfrm>
            <a:off x="731520" y="5623560"/>
            <a:ext cx="10789920" cy="731520"/>
          </a:xfrm>
          <a:prstGeom prst="rect">
            <a:avLst/>
          </a:prstGeom>
          <a:noFill/>
        </p:spPr>
        <p:txBody>
          <a:bodyPr wrap="square" lIns="0" rIns="0" tIns="0" bIns="0" anchor="t">
            <a:spAutoFit/>
          </a:bodyPr>
          <a:lstStyle/>
          <a:p>
            <a:pPr algn="l">
              <a:lnSpc>
                <a:spcPct val="115000"/>
              </a:lnSpc>
              <a:spcAft>
                <a:spcPts val="400"/>
              </a:spcAft>
            </a:pPr>
            <a:r>
              <a:rPr sz="1300" b="0">
                <a:solidFill>
                  <a:srgbClr val="0F172A"/>
                </a:solidFill>
                <a:latin typeface="Calibri"/>
              </a:rPr>
              <a:t>One codebase: Claude uses the official SDK, everyone else speaks the OpenAI-compatible API.</a:t>
            </a:r>
          </a:p>
          <a:p>
            <a:pPr algn="l">
              <a:lnSpc>
                <a:spcPct val="115000"/>
              </a:lnSpc>
              <a:spcAft>
                <a:spcPts val="400"/>
              </a:spcAft>
            </a:pPr>
            <a:r>
              <a:rPr sz="1300" b="0">
                <a:solidFill>
                  <a:srgbClr val="0F172A"/>
                </a:solidFill>
                <a:latin typeface="Calibri"/>
              </a:rPr>
              <a:t>Adding a new provider is a single entry in a catalog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Making small models behave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Free models are cheap but sloppy - five safeguards keep the app usable</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Schema-enforced replies</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AI answer must match a Zod schema, enforced by the API where supported.</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Automatic simplification</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rejected setting is retried in a simpler form, and what worked is remembered.</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Repair loop</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malformed reply is sent back with the problem described, up to twice.</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Reasoning stripped</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Internal &lt;think&gt; blocks from open models never reach the learner.</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One error language</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Auth, quota, model, network - each becomes a plain sentence plus a fix.</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Fix it in place</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error offers Change AI or model, so the learner never loses their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Architecture in one picture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No backend, no database, no account</a:t>
            </a:r>
          </a:p>
        </p:txBody>
      </p:sp>
      <p:sp>
        <p:nvSpPr>
          <p:cNvPr id="5" name="Rounded Rectangle 4"/>
          <p:cNvSpPr/>
          <p:nvPr/>
        </p:nvSpPr>
        <p:spPr>
          <a:xfrm>
            <a:off x="731520" y="2240280"/>
            <a:ext cx="6949440" cy="31089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6888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The browser</a:t>
            </a:r>
          </a:p>
        </p:txBody>
      </p:sp>
      <p:sp>
        <p:nvSpPr>
          <p:cNvPr id="7" name="Rounded Rectangle 6"/>
          <p:cNvSpPr/>
          <p:nvPr/>
        </p:nvSpPr>
        <p:spPr>
          <a:xfrm>
            <a:off x="1005840" y="2971800"/>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80160" y="3063240"/>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React UI</a:t>
            </a:r>
          </a:p>
        </p:txBody>
      </p:sp>
      <p:sp>
        <p:nvSpPr>
          <p:cNvPr id="9" name="TextBox 8"/>
          <p:cNvSpPr txBox="1"/>
          <p:nvPr/>
        </p:nvSpPr>
        <p:spPr>
          <a:xfrm>
            <a:off x="3566160" y="308152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screens, streaming chat, quizzes</a:t>
            </a:r>
          </a:p>
        </p:txBody>
      </p:sp>
      <p:sp>
        <p:nvSpPr>
          <p:cNvPr id="10" name="Rounded Rectangle 9"/>
          <p:cNvSpPr/>
          <p:nvPr/>
        </p:nvSpPr>
        <p:spPr>
          <a:xfrm>
            <a:off x="1005840" y="3749039"/>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80160" y="3840479"/>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learning.ts</a:t>
            </a:r>
          </a:p>
        </p:txBody>
      </p:sp>
      <p:sp>
        <p:nvSpPr>
          <p:cNvPr id="12" name="TextBox 11"/>
          <p:cNvSpPr txBox="1"/>
          <p:nvPr/>
        </p:nvSpPr>
        <p:spPr>
          <a:xfrm>
            <a:off x="3566160" y="385876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the six AI tasks + prompts</a:t>
            </a:r>
          </a:p>
        </p:txBody>
      </p:sp>
      <p:sp>
        <p:nvSpPr>
          <p:cNvPr id="13" name="Rounded Rectangle 12"/>
          <p:cNvSpPr/>
          <p:nvPr/>
        </p:nvSpPr>
        <p:spPr>
          <a:xfrm>
            <a:off x="1005840" y="4526280"/>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4617720"/>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lib/ai</a:t>
            </a:r>
          </a:p>
        </p:txBody>
      </p:sp>
      <p:sp>
        <p:nvSpPr>
          <p:cNvPr id="15" name="TextBox 14"/>
          <p:cNvSpPr txBox="1"/>
          <p:nvPr/>
        </p:nvSpPr>
        <p:spPr>
          <a:xfrm>
            <a:off x="3566160" y="463600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one API for every provider</a:t>
            </a:r>
          </a:p>
        </p:txBody>
      </p:sp>
      <p:sp>
        <p:nvSpPr>
          <p:cNvPr id="16" name="Rounded Rectangle 15"/>
          <p:cNvSpPr/>
          <p:nvPr/>
        </p:nvSpPr>
        <p:spPr>
          <a:xfrm>
            <a:off x="1005840" y="4892040"/>
            <a:ext cx="6400800" cy="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138160" y="2240280"/>
            <a:ext cx="3291840" cy="141732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2560320"/>
            <a:ext cx="274320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AI provider</a:t>
            </a:r>
          </a:p>
        </p:txBody>
      </p:sp>
      <p:sp>
        <p:nvSpPr>
          <p:cNvPr id="19" name="TextBox 18"/>
          <p:cNvSpPr txBox="1"/>
          <p:nvPr/>
        </p:nvSpPr>
        <p:spPr>
          <a:xfrm>
            <a:off x="8412480" y="2971800"/>
            <a:ext cx="2743200" cy="548640"/>
          </a:xfrm>
          <a:prstGeom prst="rect">
            <a:avLst/>
          </a:prstGeom>
          <a:noFill/>
        </p:spPr>
        <p:txBody>
          <a:bodyPr wrap="square" lIns="0" rIns="0" tIns="0" bIns="0" anchor="t">
            <a:spAutoFit/>
          </a:bodyPr>
          <a:lstStyle/>
          <a:p>
            <a:pPr algn="l">
              <a:lnSpc>
                <a:spcPct val="115000"/>
              </a:lnSpc>
              <a:spcAft>
                <a:spcPts val="600"/>
              </a:spcAft>
            </a:pPr>
            <a:r>
              <a:rPr sz="1200" b="0">
                <a:solidFill>
                  <a:srgbClr val="C7D2FE"/>
                </a:solidFill>
                <a:latin typeface="Calibri"/>
              </a:rPr>
              <a:t>Claude, Gemini, Groq, OpenAI, ...</a:t>
            </a:r>
          </a:p>
        </p:txBody>
      </p:sp>
      <p:sp>
        <p:nvSpPr>
          <p:cNvPr id="20" name="Rounded Rectangle 19"/>
          <p:cNvSpPr/>
          <p:nvPr/>
        </p:nvSpPr>
        <p:spPr>
          <a:xfrm>
            <a:off x="8138160" y="3931920"/>
            <a:ext cx="3291840" cy="14173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206240"/>
            <a:ext cx="27432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IndexedDB</a:t>
            </a:r>
          </a:p>
        </p:txBody>
      </p:sp>
      <p:sp>
        <p:nvSpPr>
          <p:cNvPr id="22" name="TextBox 21"/>
          <p:cNvSpPr txBox="1"/>
          <p:nvPr/>
        </p:nvSpPr>
        <p:spPr>
          <a:xfrm>
            <a:off x="8412480" y="4617720"/>
            <a:ext cx="2743200" cy="54864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Tracks, profiles, plans, chats and quiz history - in this browser</a:t>
            </a:r>
          </a:p>
        </p:txBody>
      </p:sp>
      <p:sp>
        <p:nvSpPr>
          <p:cNvPr id="23" name="TextBox 22"/>
          <p:cNvSpPr txBox="1"/>
          <p:nvPr/>
        </p:nvSpPr>
        <p:spPr>
          <a:xfrm>
            <a:off x="731520" y="5623560"/>
            <a:ext cx="10789920" cy="822960"/>
          </a:xfrm>
          <a:prstGeom prst="rect">
            <a:avLst/>
          </a:prstGeom>
          <a:noFill/>
        </p:spPr>
        <p:txBody>
          <a:bodyPr wrap="square" lIns="0" rIns="0" tIns="0" bIns="0" anchor="t">
            <a:spAutoFit/>
          </a:bodyPr>
          <a:lstStyle/>
          <a:p>
            <a:pPr algn="l">
              <a:lnSpc>
                <a:spcPct val="115000"/>
              </a:lnSpc>
              <a:spcAft>
                <a:spcPts val="500"/>
              </a:spcAft>
            </a:pPr>
            <a:r>
              <a:rPr sz="1300" b="0">
                <a:solidFill>
                  <a:srgbClr val="0F172A"/>
                </a:solidFill>
                <a:latin typeface="Calibri"/>
              </a:rPr>
              <a:t>Swapping storage.ts for API calls is the only change needed to add a real backend.</a:t>
            </a:r>
          </a:p>
          <a:p>
            <a:pPr algn="l">
              <a:lnSpc>
                <a:spcPct val="115000"/>
              </a:lnSpc>
              <a:spcAft>
                <a:spcPts val="500"/>
              </a:spcAft>
            </a:pPr>
            <a:r>
              <a:rPr sz="1300" b="0">
                <a:solidFill>
                  <a:srgbClr val="0F172A"/>
                </a:solidFill>
                <a:latin typeface="Calibri"/>
              </a:rPr>
              <a:t>Putting a small serverless function in front of lib/ai is the only change needed to hide the API key.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Build and quality</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Small, typed, and checked</a:t>
            </a:r>
          </a:p>
        </p:txBody>
      </p:sp>
      <p:sp>
        <p:nvSpPr>
          <p:cNvPr id="5" name="Rounded Rectangle 4"/>
          <p:cNvSpPr/>
          <p:nvPr/>
        </p:nvSpPr>
        <p:spPr>
          <a:xfrm>
            <a:off x="731520"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~4,400</a:t>
            </a:r>
          </a:p>
        </p:txBody>
      </p:sp>
      <p:sp>
        <p:nvSpPr>
          <p:cNvPr id="7" name="TextBox 6"/>
          <p:cNvSpPr txBox="1"/>
          <p:nvPr/>
        </p:nvSpPr>
        <p:spPr>
          <a:xfrm>
            <a:off x="731520"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lines of TypeScript</a:t>
            </a:r>
          </a:p>
        </p:txBody>
      </p:sp>
      <p:sp>
        <p:nvSpPr>
          <p:cNvPr id="8" name="Rounded Rectangle 7"/>
          <p:cNvSpPr/>
          <p:nvPr/>
        </p:nvSpPr>
        <p:spPr>
          <a:xfrm>
            <a:off x="2907791"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07791"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~40</a:t>
            </a:r>
          </a:p>
        </p:txBody>
      </p:sp>
      <p:sp>
        <p:nvSpPr>
          <p:cNvPr id="10" name="TextBox 9"/>
          <p:cNvSpPr txBox="1"/>
          <p:nvPr/>
        </p:nvSpPr>
        <p:spPr>
          <a:xfrm>
            <a:off x="2907791"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source files</a:t>
            </a:r>
          </a:p>
        </p:txBody>
      </p:sp>
      <p:sp>
        <p:nvSpPr>
          <p:cNvPr id="11" name="Rounded Rectangle 10"/>
          <p:cNvSpPr/>
          <p:nvPr/>
        </p:nvSpPr>
        <p:spPr>
          <a:xfrm>
            <a:off x="5084064"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084064"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12</a:t>
            </a:r>
          </a:p>
        </p:txBody>
      </p:sp>
      <p:sp>
        <p:nvSpPr>
          <p:cNvPr id="13" name="TextBox 12"/>
          <p:cNvSpPr txBox="1"/>
          <p:nvPr/>
        </p:nvSpPr>
        <p:spPr>
          <a:xfrm>
            <a:off x="5084064"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AI providers</a:t>
            </a:r>
          </a:p>
        </p:txBody>
      </p:sp>
      <p:sp>
        <p:nvSpPr>
          <p:cNvPr id="14" name="Rounded Rectangle 13"/>
          <p:cNvSpPr/>
          <p:nvPr/>
        </p:nvSpPr>
        <p:spPr>
          <a:xfrm>
            <a:off x="7260336"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60336"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54</a:t>
            </a:r>
          </a:p>
        </p:txBody>
      </p:sp>
      <p:sp>
        <p:nvSpPr>
          <p:cNvPr id="16" name="TextBox 15"/>
          <p:cNvSpPr txBox="1"/>
          <p:nvPr/>
        </p:nvSpPr>
        <p:spPr>
          <a:xfrm>
            <a:off x="7260336"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automated checks passing</a:t>
            </a:r>
          </a:p>
        </p:txBody>
      </p:sp>
      <p:sp>
        <p:nvSpPr>
          <p:cNvPr id="17" name="Rounded Rectangle 16"/>
          <p:cNvSpPr/>
          <p:nvPr/>
        </p:nvSpPr>
        <p:spPr>
          <a:xfrm>
            <a:off x="9436608"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436608"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0</a:t>
            </a:r>
          </a:p>
        </p:txBody>
      </p:sp>
      <p:sp>
        <p:nvSpPr>
          <p:cNvPr id="19" name="TextBox 18"/>
          <p:cNvSpPr txBox="1"/>
          <p:nvPr/>
        </p:nvSpPr>
        <p:spPr>
          <a:xfrm>
            <a:off x="9436608"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backend services</a:t>
            </a:r>
          </a:p>
        </p:txBody>
      </p:sp>
      <p:sp>
        <p:nvSpPr>
          <p:cNvPr id="20" name="Rounded Rectangle 19"/>
          <p:cNvSpPr/>
          <p:nvPr/>
        </p:nvSpPr>
        <p:spPr>
          <a:xfrm>
            <a:off x="731520" y="3840480"/>
            <a:ext cx="5257800" cy="21031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51560" y="411480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Stack</a:t>
            </a:r>
          </a:p>
        </p:txBody>
      </p:sp>
      <p:sp>
        <p:nvSpPr>
          <p:cNvPr id="22" name="TextBox 21"/>
          <p:cNvSpPr txBox="1"/>
          <p:nvPr/>
        </p:nvSpPr>
        <p:spPr>
          <a:xfrm>
            <a:off x="1051560" y="4572000"/>
            <a:ext cx="4663440" cy="12801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React 19 + TypeScript (strict), Vite 8, Tailwind CSS 4</a:t>
            </a:r>
          </a:p>
          <a:p>
            <a:pPr algn="l">
              <a:lnSpc>
                <a:spcPct val="115000"/>
              </a:lnSpc>
              <a:spcAft>
                <a:spcPts val="600"/>
              </a:spcAft>
            </a:pPr>
            <a:r>
              <a:rPr sz="1250" b="0">
                <a:solidFill>
                  <a:srgbClr val="475569"/>
                </a:solidFill>
                <a:latin typeface="Calibri"/>
              </a:rPr>
              <a:t>Zod for every AI reply - types flow from one schema</a:t>
            </a:r>
          </a:p>
          <a:p>
            <a:pPr algn="l">
              <a:lnSpc>
                <a:spcPct val="115000"/>
              </a:lnSpc>
              <a:spcAft>
                <a:spcPts val="600"/>
              </a:spcAft>
            </a:pPr>
            <a:r>
              <a:rPr sz="1250" b="0">
                <a:solidFill>
                  <a:srgbClr val="475569"/>
                </a:solidFill>
                <a:latin typeface="Calibri"/>
              </a:rPr>
              <a:t>IndexedDB via idb; no server, no database</a:t>
            </a:r>
          </a:p>
        </p:txBody>
      </p:sp>
      <p:sp>
        <p:nvSpPr>
          <p:cNvPr id="23" name="Rounded Rectangle 22"/>
          <p:cNvSpPr/>
          <p:nvPr/>
        </p:nvSpPr>
        <p:spPr>
          <a:xfrm>
            <a:off x="6172200" y="3840480"/>
            <a:ext cx="5257800" cy="210312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92240" y="411480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How it is verified</a:t>
            </a:r>
          </a:p>
        </p:txBody>
      </p:sp>
      <p:sp>
        <p:nvSpPr>
          <p:cNvPr id="25" name="TextBox 24"/>
          <p:cNvSpPr txBox="1"/>
          <p:nvPr/>
        </p:nvSpPr>
        <p:spPr>
          <a:xfrm>
            <a:off x="6492240" y="4572000"/>
            <a:ext cx="4663440" cy="12801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npm run build type-checks the whole app</a:t>
            </a:r>
          </a:p>
          <a:p>
            <a:pPr algn="l">
              <a:lnSpc>
                <a:spcPct val="115000"/>
              </a:lnSpc>
              <a:spcAft>
                <a:spcPts val="600"/>
              </a:spcAft>
            </a:pPr>
            <a:r>
              <a:rPr sz="1250" b="0">
                <a:solidFill>
                  <a:srgbClr val="475569"/>
                </a:solidFill>
                <a:latin typeface="Calibri"/>
              </a:rPr>
              <a:t>Adapter suite runs against a fake AI server: fallbacks, errors, streaming, abort</a:t>
            </a:r>
          </a:p>
          <a:p>
            <a:pPr algn="l">
              <a:lnSpc>
                <a:spcPct val="115000"/>
              </a:lnSpc>
              <a:spcAft>
                <a:spcPts val="600"/>
              </a:spcAft>
            </a:pPr>
            <a:r>
              <a:rPr sz="1250" b="0">
                <a:solidFill>
                  <a:srgbClr val="475569"/>
                </a:solidFill>
                <a:latin typeface="Calibri"/>
              </a:rPr>
              <a:t>Manual smoke test for the six learner steps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Cost, privacy and the honest caveat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What it costs to run, and what to fix before sharing it</a:t>
            </a:r>
          </a:p>
        </p:txBody>
      </p:sp>
      <p:sp>
        <p:nvSpPr>
          <p:cNvPr id="5" name="Rounded Rectangle 4"/>
          <p:cNvSpPr/>
          <p:nvPr/>
        </p:nvSpPr>
        <p:spPr>
          <a:xfrm>
            <a:off x="731520" y="2194560"/>
            <a:ext cx="3474720" cy="35661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68880"/>
            <a:ext cx="292608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Cost</a:t>
            </a:r>
          </a:p>
        </p:txBody>
      </p:sp>
      <p:sp>
        <p:nvSpPr>
          <p:cNvPr id="7" name="TextBox 6"/>
          <p:cNvSpPr txBox="1"/>
          <p:nvPr/>
        </p:nvSpPr>
        <p:spPr>
          <a:xfrm>
            <a:off x="1005840" y="2926080"/>
            <a:ext cx="3017520" cy="2560320"/>
          </a:xfrm>
          <a:prstGeom prst="rect">
            <a:avLst/>
          </a:prstGeom>
          <a:noFill/>
        </p:spPr>
        <p:txBody>
          <a:bodyPr wrap="square" lIns="0" rIns="0" tIns="0" bIns="0" anchor="t">
            <a:spAutoFit/>
          </a:bodyPr>
          <a:lstStyle/>
          <a:p>
            <a:pPr algn="l">
              <a:lnSpc>
                <a:spcPct val="115000"/>
              </a:lnSpc>
              <a:spcAft>
                <a:spcPts val="900"/>
              </a:spcAft>
            </a:pPr>
            <a:r>
              <a:rPr sz="1250" b="0">
                <a:solidFill>
                  <a:srgbClr val="475569"/>
                </a:solidFill>
                <a:latin typeface="Calibri"/>
              </a:rPr>
              <a:t>Free tiers cover normal learning use</a:t>
            </a:r>
          </a:p>
          <a:p>
            <a:pPr algn="l">
              <a:lnSpc>
                <a:spcPct val="115000"/>
              </a:lnSpc>
              <a:spcAft>
                <a:spcPts val="900"/>
              </a:spcAft>
            </a:pPr>
            <a:r>
              <a:rPr sz="1250" b="0">
                <a:solidFill>
                  <a:srgbClr val="475569"/>
                </a:solidFill>
                <a:latin typeface="Calibri"/>
              </a:rPr>
              <a:t>Paid providers: a few cents per module</a:t>
            </a:r>
          </a:p>
          <a:p>
            <a:pPr algn="l">
              <a:lnSpc>
                <a:spcPct val="115000"/>
              </a:lnSpc>
              <a:spcAft>
                <a:spcPts val="900"/>
              </a:spcAft>
            </a:pPr>
            <a:r>
              <a:rPr sz="1250" b="0">
                <a:solidFill>
                  <a:srgbClr val="475569"/>
                </a:solidFill>
                <a:latin typeface="Calibri"/>
              </a:rPr>
              <a:t>Effort defaults to low to keep usage down</a:t>
            </a:r>
          </a:p>
          <a:p>
            <a:pPr algn="l">
              <a:lnSpc>
                <a:spcPct val="115000"/>
              </a:lnSpc>
              <a:spcAft>
                <a:spcPts val="900"/>
              </a:spcAft>
            </a:pPr>
            <a:r>
              <a:rPr sz="1250" b="0">
                <a:solidFill>
                  <a:srgbClr val="475569"/>
                </a:solidFill>
                <a:latin typeface="Calibri"/>
              </a:rPr>
              <a:t>Hosting: none - it is a static site</a:t>
            </a:r>
          </a:p>
        </p:txBody>
      </p:sp>
      <p:sp>
        <p:nvSpPr>
          <p:cNvPr id="8" name="Rounded Rectangle 7"/>
          <p:cNvSpPr/>
          <p:nvPr/>
        </p:nvSpPr>
        <p:spPr>
          <a:xfrm>
            <a:off x="4434840" y="2194560"/>
            <a:ext cx="3474720" cy="35661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60" y="2468880"/>
            <a:ext cx="292608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Privacy</a:t>
            </a:r>
          </a:p>
        </p:txBody>
      </p:sp>
      <p:sp>
        <p:nvSpPr>
          <p:cNvPr id="10" name="TextBox 9"/>
          <p:cNvSpPr txBox="1"/>
          <p:nvPr/>
        </p:nvSpPr>
        <p:spPr>
          <a:xfrm>
            <a:off x="4709160" y="2926080"/>
            <a:ext cx="3017520" cy="2560320"/>
          </a:xfrm>
          <a:prstGeom prst="rect">
            <a:avLst/>
          </a:prstGeom>
          <a:noFill/>
        </p:spPr>
        <p:txBody>
          <a:bodyPr wrap="square" lIns="0" rIns="0" tIns="0" bIns="0" anchor="t">
            <a:spAutoFit/>
          </a:bodyPr>
          <a:lstStyle/>
          <a:p>
            <a:pPr algn="l">
              <a:lnSpc>
                <a:spcPct val="115000"/>
              </a:lnSpc>
              <a:spcAft>
                <a:spcPts val="900"/>
              </a:spcAft>
            </a:pPr>
            <a:r>
              <a:rPr sz="1250" b="0">
                <a:solidFill>
                  <a:srgbClr val="475569"/>
                </a:solidFill>
                <a:latin typeface="Calibri"/>
              </a:rPr>
              <a:t>Learner data stays in the browser</a:t>
            </a:r>
          </a:p>
          <a:p>
            <a:pPr algn="l">
              <a:lnSpc>
                <a:spcPct val="115000"/>
              </a:lnSpc>
              <a:spcAft>
                <a:spcPts val="900"/>
              </a:spcAft>
            </a:pPr>
            <a:r>
              <a:rPr sz="1250" b="0">
                <a:solidFill>
                  <a:srgbClr val="475569"/>
                </a:solidFill>
                <a:latin typeface="Calibri"/>
              </a:rPr>
              <a:t>No SkillPath server, no account</a:t>
            </a:r>
          </a:p>
          <a:p>
            <a:pPr algn="l">
              <a:lnSpc>
                <a:spcPct val="115000"/>
              </a:lnSpc>
              <a:spcAft>
                <a:spcPts val="900"/>
              </a:spcAft>
            </a:pPr>
            <a:r>
              <a:rPr sz="1250" b="0">
                <a:solidFill>
                  <a:srgbClr val="475569"/>
                </a:solidFill>
                <a:latin typeface="Calibri"/>
              </a:rPr>
              <a:t>Text goes only to the chosen provider</a:t>
            </a:r>
          </a:p>
          <a:p>
            <a:pPr algn="l">
              <a:lnSpc>
                <a:spcPct val="115000"/>
              </a:lnSpc>
              <a:spcAft>
                <a:spcPts val="900"/>
              </a:spcAft>
            </a:pPr>
            <a:r>
              <a:rPr sz="1250" b="0">
                <a:solidFill>
                  <a:srgbClr val="475569"/>
                </a:solidFill>
                <a:latin typeface="Calibri"/>
              </a:rPr>
              <a:t>Free tiers may train on prompts - the app says so</a:t>
            </a:r>
          </a:p>
        </p:txBody>
      </p:sp>
      <p:sp>
        <p:nvSpPr>
          <p:cNvPr id="11" name="Rounded Rectangle 10"/>
          <p:cNvSpPr/>
          <p:nvPr/>
        </p:nvSpPr>
        <p:spPr>
          <a:xfrm>
            <a:off x="8138160" y="2194560"/>
            <a:ext cx="3291840" cy="356616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468880"/>
            <a:ext cx="2743200" cy="365760"/>
          </a:xfrm>
          <a:prstGeom prst="rect">
            <a:avLst/>
          </a:prstGeom>
          <a:noFill/>
        </p:spPr>
        <p:txBody>
          <a:bodyPr wrap="square" lIns="0" rIns="0" tIns="0" bIns="0" anchor="t">
            <a:spAutoFit/>
          </a:bodyPr>
          <a:lstStyle/>
          <a:p>
            <a:pPr algn="l">
              <a:lnSpc>
                <a:spcPct val="115000"/>
              </a:lnSpc>
              <a:spcAft>
                <a:spcPts val="600"/>
              </a:spcAft>
            </a:pPr>
            <a:r>
              <a:rPr sz="1600" b="1">
                <a:solidFill>
                  <a:srgbClr val="FFFFFF"/>
                </a:solidFill>
                <a:latin typeface="Cambria"/>
              </a:rPr>
              <a:t>The caveat</a:t>
            </a:r>
          </a:p>
        </p:txBody>
      </p:sp>
      <p:sp>
        <p:nvSpPr>
          <p:cNvPr id="13" name="TextBox 12"/>
          <p:cNvSpPr txBox="1"/>
          <p:nvPr/>
        </p:nvSpPr>
        <p:spPr>
          <a:xfrm>
            <a:off x="8412480" y="2926080"/>
            <a:ext cx="2834640" cy="2560320"/>
          </a:xfrm>
          <a:prstGeom prst="rect">
            <a:avLst/>
          </a:prstGeom>
          <a:noFill/>
        </p:spPr>
        <p:txBody>
          <a:bodyPr wrap="square" lIns="0" rIns="0" tIns="0" bIns="0" anchor="t">
            <a:spAutoFit/>
          </a:bodyPr>
          <a:lstStyle/>
          <a:p>
            <a:pPr algn="l">
              <a:lnSpc>
                <a:spcPct val="115000"/>
              </a:lnSpc>
              <a:spcAft>
                <a:spcPts val="900"/>
              </a:spcAft>
            </a:pPr>
            <a:r>
              <a:rPr sz="1250" b="0">
                <a:solidFill>
                  <a:srgbClr val="C7D2FE"/>
                </a:solidFill>
                <a:latin typeface="Calibri"/>
              </a:rPr>
              <a:t>The API key sits in the browser.</a:t>
            </a:r>
          </a:p>
          <a:p>
            <a:pPr algn="l">
              <a:lnSpc>
                <a:spcPct val="115000"/>
              </a:lnSpc>
              <a:spcAft>
                <a:spcPts val="900"/>
              </a:spcAft>
            </a:pPr>
            <a:r>
              <a:rPr sz="1250" b="0">
                <a:solidFill>
                  <a:srgbClr val="C7D2FE"/>
                </a:solidFill>
                <a:latin typeface="Calibri"/>
              </a:rPr>
              <a:t>Fine on your own machine.</a:t>
            </a:r>
          </a:p>
          <a:p>
            <a:pPr algn="l">
              <a:lnSpc>
                <a:spcPct val="115000"/>
              </a:lnSpc>
              <a:spcAft>
                <a:spcPts val="900"/>
              </a:spcAft>
            </a:pPr>
            <a:r>
              <a:rPr sz="1250" b="0">
                <a:solidFill>
                  <a:srgbClr val="C7D2FE"/>
                </a:solidFill>
                <a:latin typeface="Calibri"/>
              </a:rPr>
              <a:t>Before sharing: move the calls behind a small serverless function.</a:t>
            </a:r>
          </a:p>
          <a:p>
            <a:pPr algn="l">
              <a:lnSpc>
                <a:spcPct val="115000"/>
              </a:lnSpc>
              <a:spcAft>
                <a:spcPts val="900"/>
              </a:spcAft>
            </a:pPr>
            <a:r>
              <a:rPr sz="1250" b="0">
                <a:solidFill>
                  <a:srgbClr val="C7D2FE"/>
                </a:solidFill>
                <a:latin typeface="Calibri"/>
              </a:rPr>
              <a:t>That is a one-file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Where it goes next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Each step is a known, scoped change</a:t>
            </a:r>
          </a:p>
        </p:txBody>
      </p:sp>
      <p:sp>
        <p:nvSpPr>
          <p:cNvPr id="5" name="Rounded Rectangle 4"/>
          <p:cNvSpPr/>
          <p:nvPr/>
        </p:nvSpPr>
        <p:spPr>
          <a:xfrm>
            <a:off x="731520" y="2194560"/>
            <a:ext cx="10698480" cy="868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005840" y="2423160"/>
            <a:ext cx="1005840" cy="411480"/>
          </a:xfrm>
          <a:prstGeom prst="roundRect">
            <a:avLst>
              <a:gd name="adj" fmla="val 3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50545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FFFFFF"/>
                </a:solidFill>
                <a:latin typeface="Calibri"/>
              </a:rPr>
              <a:t>Next</a:t>
            </a:r>
          </a:p>
        </p:txBody>
      </p:sp>
      <p:sp>
        <p:nvSpPr>
          <p:cNvPr id="8" name="TextBox 7"/>
          <p:cNvSpPr txBox="1"/>
          <p:nvPr/>
        </p:nvSpPr>
        <p:spPr>
          <a:xfrm>
            <a:off x="2240280" y="237744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Serverless key proxy</a:t>
            </a:r>
          </a:p>
        </p:txBody>
      </p:sp>
      <p:sp>
        <p:nvSpPr>
          <p:cNvPr id="9" name="TextBox 8"/>
          <p:cNvSpPr txBox="1"/>
          <p:nvPr/>
        </p:nvSpPr>
        <p:spPr>
          <a:xfrm>
            <a:off x="2240280" y="269748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Share the app safely with a team</a:t>
            </a:r>
          </a:p>
        </p:txBody>
      </p:sp>
      <p:sp>
        <p:nvSpPr>
          <p:cNvPr id="10" name="Rounded Rectangle 9"/>
          <p:cNvSpPr/>
          <p:nvPr/>
        </p:nvSpPr>
        <p:spPr>
          <a:xfrm>
            <a:off x="731520" y="3200400"/>
            <a:ext cx="10698480" cy="8686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005840" y="342900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351129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Then</a:t>
            </a:r>
          </a:p>
        </p:txBody>
      </p:sp>
      <p:sp>
        <p:nvSpPr>
          <p:cNvPr id="13" name="TextBox 12"/>
          <p:cNvSpPr txBox="1"/>
          <p:nvPr/>
        </p:nvSpPr>
        <p:spPr>
          <a:xfrm>
            <a:off x="2240280" y="338328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Accounts and sync</a:t>
            </a:r>
          </a:p>
        </p:txBody>
      </p:sp>
      <p:sp>
        <p:nvSpPr>
          <p:cNvPr id="14" name="TextBox 13"/>
          <p:cNvSpPr txBox="1"/>
          <p:nvPr/>
        </p:nvSpPr>
        <p:spPr>
          <a:xfrm>
            <a:off x="2240280" y="370332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Progress across devices; replace storage.ts</a:t>
            </a:r>
          </a:p>
        </p:txBody>
      </p:sp>
      <p:sp>
        <p:nvSpPr>
          <p:cNvPr id="15" name="Rounded Rectangle 14"/>
          <p:cNvSpPr/>
          <p:nvPr/>
        </p:nvSpPr>
        <p:spPr>
          <a:xfrm>
            <a:off x="731520" y="4206240"/>
            <a:ext cx="10698480" cy="868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005840" y="443484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5840" y="451713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Then</a:t>
            </a:r>
          </a:p>
        </p:txBody>
      </p:sp>
      <p:sp>
        <p:nvSpPr>
          <p:cNvPr id="18" name="TextBox 17"/>
          <p:cNvSpPr txBox="1"/>
          <p:nvPr/>
        </p:nvSpPr>
        <p:spPr>
          <a:xfrm>
            <a:off x="2240280" y="438912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Manager / trainer view</a:t>
            </a:r>
          </a:p>
        </p:txBody>
      </p:sp>
      <p:sp>
        <p:nvSpPr>
          <p:cNvPr id="19" name="TextBox 18"/>
          <p:cNvSpPr txBox="1"/>
          <p:nvPr/>
        </p:nvSpPr>
        <p:spPr>
          <a:xfrm>
            <a:off x="2240280" y="4709159"/>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Team skill profiles and gaps in one place</a:t>
            </a:r>
          </a:p>
        </p:txBody>
      </p:sp>
      <p:sp>
        <p:nvSpPr>
          <p:cNvPr id="20" name="Rounded Rectangle 19"/>
          <p:cNvSpPr/>
          <p:nvPr/>
        </p:nvSpPr>
        <p:spPr>
          <a:xfrm>
            <a:off x="731520" y="5212080"/>
            <a:ext cx="10698480" cy="8686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5840" y="544068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5840" y="552297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Later</a:t>
            </a:r>
          </a:p>
        </p:txBody>
      </p:sp>
      <p:sp>
        <p:nvSpPr>
          <p:cNvPr id="23" name="TextBox 22"/>
          <p:cNvSpPr txBox="1"/>
          <p:nvPr/>
        </p:nvSpPr>
        <p:spPr>
          <a:xfrm>
            <a:off x="2240280" y="539496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Content hooks</a:t>
            </a:r>
          </a:p>
        </p:txBody>
      </p:sp>
      <p:sp>
        <p:nvSpPr>
          <p:cNvPr id="24" name="TextBox 23"/>
          <p:cNvSpPr txBox="1"/>
          <p:nvPr/>
        </p:nvSpPr>
        <p:spPr>
          <a:xfrm>
            <a:off x="2240280" y="571500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Plug in internal wikis and course catalogues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515600" cy="1097280"/>
          </a:xfrm>
          <a:prstGeom prst="rect">
            <a:avLst/>
          </a:prstGeom>
          <a:noFill/>
        </p:spPr>
        <p:txBody>
          <a:bodyPr wrap="square" lIns="0" rIns="0" tIns="0" bIns="0" anchor="t">
            <a:spAutoFit/>
          </a:bodyPr>
          <a:lstStyle/>
          <a:p>
            <a:pPr algn="l">
              <a:lnSpc>
                <a:spcPct val="115000"/>
              </a:lnSpc>
              <a:spcAft>
                <a:spcPts val="600"/>
              </a:spcAft>
            </a:pPr>
            <a:r>
              <a:rPr sz="4400" b="1">
                <a:solidFill>
                  <a:srgbClr val="FFFFFF"/>
                </a:solidFill>
                <a:latin typeface="Cambria"/>
              </a:rPr>
              <a:t>Measure first. Teach the gap.</a:t>
            </a:r>
          </a:p>
        </p:txBody>
      </p:sp>
      <p:sp>
        <p:nvSpPr>
          <p:cNvPr id="4" name="TextBox 3"/>
          <p:cNvSpPr txBox="1"/>
          <p:nvPr/>
        </p:nvSpPr>
        <p:spPr>
          <a:xfrm>
            <a:off x="731520" y="3200400"/>
            <a:ext cx="9601200" cy="822960"/>
          </a:xfrm>
          <a:prstGeom prst="rect">
            <a:avLst/>
          </a:prstGeom>
          <a:noFill/>
        </p:spPr>
        <p:txBody>
          <a:bodyPr wrap="square" lIns="0" rIns="0" tIns="0" bIns="0" anchor="t">
            <a:spAutoFit/>
          </a:bodyPr>
          <a:lstStyle/>
          <a:p>
            <a:pPr algn="l">
              <a:lnSpc>
                <a:spcPct val="115000"/>
              </a:lnSpc>
              <a:spcAft>
                <a:spcPts val="600"/>
              </a:spcAft>
            </a:pPr>
            <a:r>
              <a:rPr sz="1800" b="0">
                <a:solidFill>
                  <a:srgbClr val="C7D2FE"/>
                </a:solidFill>
                <a:latin typeface="Calibri"/>
              </a:rPr>
              <a:t>SkillPath turns "learn Python" into a measured profile, a plan, real courses, and a tutor that adapts.</a:t>
            </a:r>
          </a:p>
        </p:txBody>
      </p:sp>
      <p:sp>
        <p:nvSpPr>
          <p:cNvPr id="5" name="Rounded Rectangle 4"/>
          <p:cNvSpPr/>
          <p:nvPr/>
        </p:nvSpPr>
        <p:spPr>
          <a:xfrm>
            <a:off x="73152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Try it</a:t>
            </a:r>
          </a:p>
        </p:txBody>
      </p:sp>
      <p:sp>
        <p:nvSpPr>
          <p:cNvPr id="7" name="TextBox 6"/>
          <p:cNvSpPr txBox="1"/>
          <p:nvPr/>
        </p:nvSpPr>
        <p:spPr>
          <a:xfrm>
            <a:off x="1005840"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npm install  ·  npm run dev</a:t>
            </a:r>
          </a:p>
        </p:txBody>
      </p:sp>
      <p:sp>
        <p:nvSpPr>
          <p:cNvPr id="8" name="Rounded Rectangle 7"/>
          <p:cNvSpPr/>
          <p:nvPr/>
        </p:nvSpPr>
        <p:spPr>
          <a:xfrm>
            <a:off x="443484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Read it</a:t>
            </a:r>
          </a:p>
        </p:txBody>
      </p:sp>
      <p:sp>
        <p:nvSpPr>
          <p:cNvPr id="10" name="TextBox 9"/>
          <p:cNvSpPr txBox="1"/>
          <p:nvPr/>
        </p:nvSpPr>
        <p:spPr>
          <a:xfrm>
            <a:off x="4709159"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docs/USER_GUIDE.md  ·  docs/DEVELOPER_GUIDE.md</a:t>
            </a:r>
          </a:p>
        </p:txBody>
      </p:sp>
      <p:sp>
        <p:nvSpPr>
          <p:cNvPr id="11" name="Rounded Rectangle 10"/>
          <p:cNvSpPr/>
          <p:nvPr/>
        </p:nvSpPr>
        <p:spPr>
          <a:xfrm>
            <a:off x="813816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Extend it</a:t>
            </a:r>
          </a:p>
        </p:txBody>
      </p:sp>
      <p:sp>
        <p:nvSpPr>
          <p:cNvPr id="13" name="TextBox 12"/>
          <p:cNvSpPr txBox="1"/>
          <p:nvPr/>
        </p:nvSpPr>
        <p:spPr>
          <a:xfrm>
            <a:off x="8412480"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One entry adds an AI provider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