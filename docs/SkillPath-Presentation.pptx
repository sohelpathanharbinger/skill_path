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2" r:id="rId24"/>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SkillPath is an AI learning coach. Most training starts by guessing what you know. This starts by measuring it, then teaches only the gaps. There is no backend to host: it runs in the browser and installs on a phone or laptop like an app. It works with whichever AI provider you already pay for - or Google Gemini's free tier, which is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in one line each. Everyone in the room has sat through a course that started too low and still missed the thing they needed. The cost is not the course fee, it is the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left to right. The important one is the loop: step 6 feeds step 2. The profile is not a one-off test result, it moves every time the learner is assessed.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screen. Left: measured mastery per sub-topic, with the evidence behind each bar. Right: the plan built from those gaps - note module 1 exists because fundamentals scored 45. Every module says why it is there for this learner.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technical heart of the product. Anyone can ask an AI for a syllabus. The difference here is that the learner's measured state is carried into every later prompt, and updated by every quiz.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answer to 'what did you actually build'. Seven role prompts, each with a strict reply format. The craft is in the rules: give numbers instead of adjectives, define every scale, and name the failure you fear - models obey specifics.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replaying the model's own JSON turns is what makes question seven depend on answers one to six. Right: the reply is never trusted - it is constrained, extracted, validated, and repaired if needed. That pipeline is why free models are usable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 is now the default because it is free to start with. Claude is still the deepest integration: it has its own adapter built on the official SDK, and this list is why - especially structured outputs and caching. Every other provider is mapped onto the same ideas, and where a model cannot do one of them the app degrades gracefully instead of failing.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points. One: the suggestions are matched to the learner's gaps, not a generic top-ten list. Two: the anti-hallucination design. We never trust a model-written URL. Searching the exact title always lands on the live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lock-in was a deliberate design goal. Google Gemini is the default because a learner can get a free key in a minute, with no credit card. A team can still use its existing paid provider. Whatever key is used, it is encrypted on the learner's device and sent only to that provider. Adding a provider later is one catalog entry, not a refactor.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engineering that is invisible when it works. Without it, a free model returns almost-JSON and the screen breaks. With it, the same model produces a usable lesson.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boring architecture: a static site, a service worker for offline use, and the provider's API. It deploys anywhere, costs nothing to host, and has two clearly marked seams for the next stage - storage, and an optional key proxy.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short. The point is that it is small enough for one developer to own, strictly typed end to end, and the key never sits in plain text anywhere - not in the code, not in the build, not in browser storage.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caveat before anyone asks - it builds trust. Every learner needs their own API key. Gemini's is free and takes a minute, and the app stores it encrypted. If we want people to use SkillPath with no key at all, the fix is understood and scoped: one serverless function holding our key, with a usage limit per person.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technical story with direction. The installable, encrypted version is done. Publishing is next and small: static hosting on Vercel, and PWABuilder turns the same site into an Android package. The key proxy only matters if we want people to learn without a key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one-liner: measure first, teach the gap. Then hand over to questions, or move to the next automation in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turned a personal tool into something we can hand out. SkillPath is now a Progressive Web App: people install it from the browser, it opens offline, and it updates itself. Each learner uses their own key - Gemini's is free - and it is encrypted on their device with a key the app can use but never read out. Backups are a single file, so nothing is lost when someone changes phone.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10515600" cy="1463040"/>
          </a:xfrm>
          <a:prstGeom prst="rect">
            <a:avLst/>
          </a:prstGeom>
          <a:noFill/>
        </p:spPr>
        <p:txBody>
          <a:bodyPr wrap="square" lIns="0" rIns="0" tIns="0" bIns="0" anchor="t">
            <a:spAutoFit/>
          </a:bodyPr>
          <a:lstStyle/>
          <a:p>
            <a:pPr algn="l">
              <a:lnSpc>
                <a:spcPct val="115000"/>
              </a:lnSpc>
              <a:spcAft>
                <a:spcPts val="600"/>
              </a:spcAft>
            </a:pPr>
            <a:r>
              <a:rPr sz="6000" b="1">
                <a:solidFill>
                  <a:srgbClr val="FFFFFF"/>
                </a:solidFill>
                <a:latin typeface="Cambria"/>
              </a:rPr>
              <a:t>SkillPath</a:t>
            </a:r>
          </a:p>
        </p:txBody>
      </p:sp>
      <p:sp>
        <p:nvSpPr>
          <p:cNvPr id="5" name="TextBox 4"/>
          <p:cNvSpPr txBox="1"/>
          <p:nvPr/>
        </p:nvSpPr>
        <p:spPr>
          <a:xfrm>
            <a:off x="731520" y="3200400"/>
            <a:ext cx="10058400" cy="822960"/>
          </a:xfrm>
          <a:prstGeom prst="rect">
            <a:avLst/>
          </a:prstGeom>
          <a:noFill/>
        </p:spPr>
        <p:txBody>
          <a:bodyPr wrap="square" lIns="0" rIns="0" tIns="0" bIns="0" anchor="t">
            <a:spAutoFit/>
          </a:bodyPr>
          <a:lstStyle/>
          <a:p>
            <a:pPr algn="l">
              <a:lnSpc>
                <a:spcPct val="115000"/>
              </a:lnSpc>
              <a:spcAft>
                <a:spcPts val="600"/>
              </a:spcAft>
            </a:pPr>
            <a:r>
              <a:rPr sz="2200" b="0">
                <a:solidFill>
                  <a:srgbClr val="C7D2FE"/>
                </a:solidFill>
                <a:latin typeface="Calibri"/>
              </a:rPr>
              <a:t>An adaptive learning coach that finds your real level, then teaches you the rest</a:t>
            </a:r>
          </a:p>
        </p:txBody>
      </p:sp>
      <p:sp>
        <p:nvSpPr>
          <p:cNvPr id="6" name="TextBox 5"/>
          <p:cNvSpPr txBox="1"/>
          <p:nvPr/>
        </p:nvSpPr>
        <p:spPr>
          <a:xfrm>
            <a:off x="731520" y="4297680"/>
            <a:ext cx="10058400" cy="457200"/>
          </a:xfrm>
          <a:prstGeom prst="rect">
            <a:avLst/>
          </a:prstGeom>
          <a:noFill/>
        </p:spPr>
        <p:txBody>
          <a:bodyPr wrap="square" lIns="0" rIns="0" tIns="0" bIns="0" anchor="t">
            <a:spAutoFit/>
          </a:bodyPr>
          <a:lstStyle/>
          <a:p>
            <a:pPr algn="l">
              <a:lnSpc>
                <a:spcPct val="115000"/>
              </a:lnSpc>
              <a:spcAft>
                <a:spcPts val="600"/>
              </a:spcAft>
            </a:pPr>
            <a:r>
              <a:rPr sz="1500" b="0">
                <a:solidFill>
                  <a:srgbClr val="C7D2FE"/>
                </a:solidFill>
                <a:latin typeface="Calibri"/>
              </a:rPr>
              <a:t>Built with React, TypeScript and any major AI provider</a:t>
            </a:r>
          </a:p>
        </p:txBody>
      </p:sp>
      <p:sp>
        <p:nvSpPr>
          <p:cNvPr id="7" name="Rounded Rectangle 6"/>
          <p:cNvSpPr/>
          <p:nvPr/>
        </p:nvSpPr>
        <p:spPr>
          <a:xfrm>
            <a:off x="731520" y="5120640"/>
            <a:ext cx="1828800" cy="5029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5239512"/>
            <a:ext cx="2194560" cy="320040"/>
          </a:xfrm>
          <a:prstGeom prst="rect">
            <a:avLst/>
          </a:prstGeom>
          <a:noFill/>
        </p:spPr>
        <p:txBody>
          <a:bodyPr wrap="square" lIns="0" rIns="0" tIns="0" bIns="0" anchor="t">
            <a:spAutoFit/>
          </a:bodyPr>
          <a:lstStyle/>
          <a:p>
            <a:pPr algn="l">
              <a:lnSpc>
                <a:spcPct val="115000"/>
              </a:lnSpc>
              <a:spcAft>
                <a:spcPts val="600"/>
              </a:spcAft>
            </a:pPr>
            <a:r>
              <a:rPr sz="1200" b="1">
                <a:solidFill>
                  <a:srgbClr val="C7D2FE"/>
                </a:solidFill>
                <a:latin typeface="Calibri"/>
              </a:rPr>
              <a:t>No backend</a:t>
            </a:r>
          </a:p>
        </p:txBody>
      </p:sp>
      <p:sp>
        <p:nvSpPr>
          <p:cNvPr id="9" name="Rounded Rectangle 8"/>
          <p:cNvSpPr/>
          <p:nvPr/>
        </p:nvSpPr>
        <p:spPr>
          <a:xfrm>
            <a:off x="2743200" y="5120640"/>
            <a:ext cx="1828800" cy="5029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926080" y="5239512"/>
            <a:ext cx="2194560" cy="320040"/>
          </a:xfrm>
          <a:prstGeom prst="rect">
            <a:avLst/>
          </a:prstGeom>
          <a:noFill/>
        </p:spPr>
        <p:txBody>
          <a:bodyPr wrap="square" lIns="0" rIns="0" tIns="0" bIns="0" anchor="t">
            <a:spAutoFit/>
          </a:bodyPr>
          <a:lstStyle/>
          <a:p>
            <a:pPr algn="l">
              <a:lnSpc>
                <a:spcPct val="115000"/>
              </a:lnSpc>
              <a:spcAft>
                <a:spcPts val="600"/>
              </a:spcAft>
            </a:pPr>
            <a:r>
              <a:rPr sz="1200" b="1">
                <a:solidFill>
                  <a:srgbClr val="C7D2FE"/>
                </a:solidFill>
                <a:latin typeface="Calibri"/>
              </a:rPr>
              <a:t>12 AI providers</a:t>
            </a:r>
          </a:p>
        </p:txBody>
      </p:sp>
      <p:sp>
        <p:nvSpPr>
          <p:cNvPr id="11" name="Rounded Rectangle 10"/>
          <p:cNvSpPr/>
          <p:nvPr/>
        </p:nvSpPr>
        <p:spPr>
          <a:xfrm>
            <a:off x="5394960" y="5120640"/>
            <a:ext cx="2468880" cy="5029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77840" y="5239512"/>
            <a:ext cx="2194560" cy="320040"/>
          </a:xfrm>
          <a:prstGeom prst="rect">
            <a:avLst/>
          </a:prstGeom>
          <a:noFill/>
        </p:spPr>
        <p:txBody>
          <a:bodyPr wrap="square" lIns="0" rIns="0" tIns="0" bIns="0" anchor="t">
            <a:spAutoFit/>
          </a:bodyPr>
          <a:lstStyle/>
          <a:p>
            <a:pPr algn="l">
              <a:lnSpc>
                <a:spcPct val="115000"/>
              </a:lnSpc>
              <a:spcAft>
                <a:spcPts val="600"/>
              </a:spcAft>
            </a:pPr>
            <a:r>
              <a:rPr sz="1200" b="1">
                <a:solidFill>
                  <a:srgbClr val="C7D2FE"/>
                </a:solidFill>
                <a:latin typeface="Calibri"/>
              </a:rPr>
              <a:t>Installs as an app</a:t>
            </a:r>
          </a:p>
        </p:txBody>
      </p:sp>
      <p:pic>
        <p:nvPicPr>
          <p:cNvPr id="13" name="SkillPath logo" descr="pwa-512x512.png"/>
          <p:cNvPicPr>
            <a:picLocks noChangeAspect="1"/>
          </p:cNvPicPr>
          <p:nvPr/>
        </p:nvPicPr>
        <p:blipFill>
          <a:blip r:embed="rId3"/>
          <a:stretch>
            <a:fillRect/>
          </a:stretch>
        </p:blipFill>
        <p:spPr>
          <a:xfrm>
            <a:off x="731520" y="822960"/>
            <a:ext cx="822960" cy="822960"/>
          </a:xfrm>
          <a:prstGeom prst="rect">
            <a:avLst/>
          </a:prstGeom>
        </p:spPr>
      </p:pic>
      <p:sp>
        <p:nvSpPr>
          <p:cNvPr id="14" name="Credit"/>
          <p:cNvSpPr txBox="1"/>
          <p:nvPr/>
        </p:nvSpPr>
        <p:spPr>
          <a:xfrm>
            <a:off x="731520" y="5989320"/>
            <a:ext cx="10058400" cy="457200"/>
          </a:xfrm>
          <a:prstGeom prst="rect">
            <a:avLst/>
          </a:prstGeom>
          <a:noFill/>
        </p:spPr>
        <p:txBody>
          <a:bodyPr wrap="square" lIns="0" rIns="0" tIns="0" bIns="0" anchor="t">
            <a:spAutoFit/>
          </a:bodyPr>
          <a:lstStyle/>
          <a:p>
            <a:pPr algn="l">
              <a:lnSpc>
                <a:spcPct val="115000"/>
              </a:lnSpc>
              <a:spcAft>
                <a:spcPts val="600"/>
              </a:spcAft>
            </a:pPr>
            <a:r>
              <a:rPr sz="1500" b="0">
                <a:solidFill>
                  <a:srgbClr val="C7D2FE"/>
                </a:solidFill>
                <a:latin typeface="Calibri"/>
              </a:rPr>
              <a:t>Designed &amp; developed by Harbinger  ·  © 2026 Harbinger.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The problem with most technical training</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Three things waste a learner's time</a:t>
            </a:r>
          </a:p>
        </p:txBody>
      </p:sp>
      <p:sp>
        <p:nvSpPr>
          <p:cNvPr id="5" name="Rounded Rectangle 4"/>
          <p:cNvSpPr/>
          <p:nvPr/>
        </p:nvSpPr>
        <p:spPr>
          <a:xfrm>
            <a:off x="731520" y="2286000"/>
            <a:ext cx="3383280" cy="228600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51560" y="2606040"/>
            <a:ext cx="457200" cy="4572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051560" y="3246120"/>
            <a:ext cx="2743200" cy="457200"/>
          </a:xfrm>
          <a:prstGeom prst="rect">
            <a:avLst/>
          </a:prstGeom>
          <a:noFill/>
        </p:spPr>
        <p:txBody>
          <a:bodyPr wrap="square" lIns="0" rIns="0" tIns="0" bIns="0" anchor="t">
            <a:spAutoFit/>
          </a:bodyPr>
          <a:lstStyle/>
          <a:p>
            <a:pPr algn="l">
              <a:lnSpc>
                <a:spcPct val="115000"/>
              </a:lnSpc>
              <a:spcAft>
                <a:spcPts val="600"/>
              </a:spcAft>
            </a:pPr>
            <a:r>
              <a:rPr sz="1700" b="1">
                <a:solidFill>
                  <a:srgbClr val="0F172A"/>
                </a:solidFill>
                <a:latin typeface="Cambria"/>
              </a:rPr>
              <a:t>Courses assume a level</a:t>
            </a:r>
          </a:p>
        </p:txBody>
      </p:sp>
      <p:sp>
        <p:nvSpPr>
          <p:cNvPr id="8" name="TextBox 7"/>
          <p:cNvSpPr txBox="1"/>
          <p:nvPr/>
        </p:nvSpPr>
        <p:spPr>
          <a:xfrm>
            <a:off x="1051560" y="3703320"/>
            <a:ext cx="2743200" cy="91440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A 40-hour course repeats what you already know and still skips your real gap.</a:t>
            </a:r>
          </a:p>
        </p:txBody>
      </p:sp>
      <p:sp>
        <p:nvSpPr>
          <p:cNvPr id="9" name="Rounded Rectangle 8"/>
          <p:cNvSpPr/>
          <p:nvPr/>
        </p:nvSpPr>
        <p:spPr>
          <a:xfrm>
            <a:off x="4434840" y="2286000"/>
            <a:ext cx="3383280" cy="228600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54879" y="2606040"/>
            <a:ext cx="457200" cy="4572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4754879" y="3246120"/>
            <a:ext cx="2743200" cy="457200"/>
          </a:xfrm>
          <a:prstGeom prst="rect">
            <a:avLst/>
          </a:prstGeom>
          <a:noFill/>
        </p:spPr>
        <p:txBody>
          <a:bodyPr wrap="square" lIns="0" rIns="0" tIns="0" bIns="0" anchor="t">
            <a:spAutoFit/>
          </a:bodyPr>
          <a:lstStyle/>
          <a:p>
            <a:pPr algn="l">
              <a:lnSpc>
                <a:spcPct val="115000"/>
              </a:lnSpc>
              <a:spcAft>
                <a:spcPts val="600"/>
              </a:spcAft>
            </a:pPr>
            <a:r>
              <a:rPr sz="1700" b="1">
                <a:solidFill>
                  <a:srgbClr val="0F172A"/>
                </a:solidFill>
                <a:latin typeface="Cambria"/>
              </a:rPr>
              <a:t>Nobody knows their gaps</a:t>
            </a:r>
          </a:p>
        </p:txBody>
      </p:sp>
      <p:sp>
        <p:nvSpPr>
          <p:cNvPr id="12" name="TextBox 11"/>
          <p:cNvSpPr txBox="1"/>
          <p:nvPr/>
        </p:nvSpPr>
        <p:spPr>
          <a:xfrm>
            <a:off x="4754879" y="3703320"/>
            <a:ext cx="2743200" cy="91440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"Learn Python" is not a plan. Learners cannot see what is actually missing.</a:t>
            </a:r>
          </a:p>
        </p:txBody>
      </p:sp>
      <p:sp>
        <p:nvSpPr>
          <p:cNvPr id="13" name="Rounded Rectangle 12"/>
          <p:cNvSpPr/>
          <p:nvPr/>
        </p:nvSpPr>
        <p:spPr>
          <a:xfrm>
            <a:off x="8138160" y="2286000"/>
            <a:ext cx="3383280" cy="228600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58200" y="2606040"/>
            <a:ext cx="457200" cy="4572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8458200" y="3246120"/>
            <a:ext cx="2743200" cy="457200"/>
          </a:xfrm>
          <a:prstGeom prst="rect">
            <a:avLst/>
          </a:prstGeom>
          <a:noFill/>
        </p:spPr>
        <p:txBody>
          <a:bodyPr wrap="square" lIns="0" rIns="0" tIns="0" bIns="0" anchor="t">
            <a:spAutoFit/>
          </a:bodyPr>
          <a:lstStyle/>
          <a:p>
            <a:pPr algn="l">
              <a:lnSpc>
                <a:spcPct val="115000"/>
              </a:lnSpc>
              <a:spcAft>
                <a:spcPts val="600"/>
              </a:spcAft>
            </a:pPr>
            <a:r>
              <a:rPr sz="1700" b="1">
                <a:solidFill>
                  <a:srgbClr val="0F172A"/>
                </a:solidFill>
                <a:latin typeface="Cambria"/>
              </a:rPr>
              <a:t>Too much choice</a:t>
            </a:r>
          </a:p>
        </p:txBody>
      </p:sp>
      <p:sp>
        <p:nvSpPr>
          <p:cNvPr id="16" name="TextBox 15"/>
          <p:cNvSpPr txBox="1"/>
          <p:nvPr/>
        </p:nvSpPr>
        <p:spPr>
          <a:xfrm>
            <a:off x="8458200" y="3703320"/>
            <a:ext cx="2743200" cy="91440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Hundreds of courses, no way to tell which one fits this person's goal.</a:t>
            </a:r>
          </a:p>
        </p:txBody>
      </p:sp>
      <p:sp>
        <p:nvSpPr>
          <p:cNvPr id="17" name="TextBox 16"/>
          <p:cNvSpPr txBox="1"/>
          <p:nvPr/>
        </p:nvSpPr>
        <p:spPr>
          <a:xfrm>
            <a:off x="731520" y="5029200"/>
            <a:ext cx="10789920" cy="548640"/>
          </a:xfrm>
          <a:prstGeom prst="rect">
            <a:avLst/>
          </a:prstGeom>
          <a:noFill/>
        </p:spPr>
        <p:txBody>
          <a:bodyPr wrap="square" lIns="0" rIns="0" tIns="0" bIns="0" anchor="t">
            <a:spAutoFit/>
          </a:bodyPr>
          <a:lstStyle/>
          <a:p>
            <a:pPr algn="l">
              <a:lnSpc>
                <a:spcPct val="115000"/>
              </a:lnSpc>
              <a:spcAft>
                <a:spcPts val="600"/>
              </a:spcAft>
            </a:pPr>
            <a:r>
              <a:rPr sz="1500" b="1">
                <a:solidFill>
                  <a:srgbClr val="4F46E5"/>
                </a:solidFill>
                <a:latin typeface="Calibri"/>
              </a:rPr>
              <a:t>Result: hours spent, little progress, and no evidence of what improved.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How SkillPath works</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Six steps, all driven by one AI conversation</a:t>
            </a:r>
          </a:p>
        </p:txBody>
      </p:sp>
      <p:sp>
        <p:nvSpPr>
          <p:cNvPr id="5" name="Rounded Rectangle 4"/>
          <p:cNvSpPr/>
          <p:nvPr/>
        </p:nvSpPr>
        <p:spPr>
          <a:xfrm>
            <a:off x="731520" y="2148840"/>
            <a:ext cx="3383280"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05840" y="2423160"/>
            <a:ext cx="411480" cy="4114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600200" y="247802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Skill check</a:t>
            </a:r>
          </a:p>
        </p:txBody>
      </p:sp>
      <p:sp>
        <p:nvSpPr>
          <p:cNvPr id="8" name="TextBox 7"/>
          <p:cNvSpPr txBox="1"/>
          <p:nvPr/>
        </p:nvSpPr>
        <p:spPr>
          <a:xfrm>
            <a:off x="1005840" y="306324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6-10 adaptive questions</a:t>
            </a:r>
          </a:p>
        </p:txBody>
      </p:sp>
      <p:sp>
        <p:nvSpPr>
          <p:cNvPr id="9" name="Rounded Rectangle 8"/>
          <p:cNvSpPr/>
          <p:nvPr/>
        </p:nvSpPr>
        <p:spPr>
          <a:xfrm>
            <a:off x="4434840" y="2148840"/>
            <a:ext cx="3383280"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09159" y="2423160"/>
            <a:ext cx="411480" cy="4114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5303520" y="247802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Skill profile</a:t>
            </a:r>
          </a:p>
        </p:txBody>
      </p:sp>
      <p:sp>
        <p:nvSpPr>
          <p:cNvPr id="12" name="TextBox 11"/>
          <p:cNvSpPr txBox="1"/>
          <p:nvPr/>
        </p:nvSpPr>
        <p:spPr>
          <a:xfrm>
            <a:off x="4709159" y="306324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Mastery per sub-topic</a:t>
            </a:r>
          </a:p>
        </p:txBody>
      </p:sp>
      <p:sp>
        <p:nvSpPr>
          <p:cNvPr id="13" name="Rounded Rectangle 12"/>
          <p:cNvSpPr/>
          <p:nvPr/>
        </p:nvSpPr>
        <p:spPr>
          <a:xfrm>
            <a:off x="8138160" y="2148840"/>
            <a:ext cx="3383280" cy="16916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12480" y="2423160"/>
            <a:ext cx="411480" cy="41148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5" name="TextBox 14"/>
          <p:cNvSpPr txBox="1"/>
          <p:nvPr/>
        </p:nvSpPr>
        <p:spPr>
          <a:xfrm>
            <a:off x="9006840" y="247802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Learning plan</a:t>
            </a:r>
          </a:p>
        </p:txBody>
      </p:sp>
      <p:sp>
        <p:nvSpPr>
          <p:cNvPr id="16" name="TextBox 15"/>
          <p:cNvSpPr txBox="1"/>
          <p:nvPr/>
        </p:nvSpPr>
        <p:spPr>
          <a:xfrm>
            <a:off x="8412480" y="306324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Modules for your gaps</a:t>
            </a:r>
          </a:p>
        </p:txBody>
      </p:sp>
      <p:sp>
        <p:nvSpPr>
          <p:cNvPr id="17" name="Rounded Rectangle 16"/>
          <p:cNvSpPr/>
          <p:nvPr/>
        </p:nvSpPr>
        <p:spPr>
          <a:xfrm>
            <a:off x="731520" y="4160520"/>
            <a:ext cx="3383280" cy="169164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05840" y="4434840"/>
            <a:ext cx="411480" cy="411480"/>
          </a:xfrm>
          <a:prstGeom prst="ellipse">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9" name="TextBox 18"/>
          <p:cNvSpPr txBox="1"/>
          <p:nvPr/>
        </p:nvSpPr>
        <p:spPr>
          <a:xfrm>
            <a:off x="1600200" y="448970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Courses</a:t>
            </a:r>
          </a:p>
        </p:txBody>
      </p:sp>
      <p:sp>
        <p:nvSpPr>
          <p:cNvPr id="20" name="TextBox 19"/>
          <p:cNvSpPr txBox="1"/>
          <p:nvPr/>
        </p:nvSpPr>
        <p:spPr>
          <a:xfrm>
            <a:off x="1005840" y="507492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Real courses per platform</a:t>
            </a:r>
          </a:p>
        </p:txBody>
      </p:sp>
      <p:sp>
        <p:nvSpPr>
          <p:cNvPr id="21" name="Rounded Rectangle 20"/>
          <p:cNvSpPr/>
          <p:nvPr/>
        </p:nvSpPr>
        <p:spPr>
          <a:xfrm>
            <a:off x="4434840" y="4160520"/>
            <a:ext cx="3383280" cy="169164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709159" y="4434840"/>
            <a:ext cx="411480" cy="411480"/>
          </a:xfrm>
          <a:prstGeom prst="ellipse">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3" name="TextBox 22"/>
          <p:cNvSpPr txBox="1"/>
          <p:nvPr/>
        </p:nvSpPr>
        <p:spPr>
          <a:xfrm>
            <a:off x="5303520" y="448970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Lessons</a:t>
            </a:r>
          </a:p>
        </p:txBody>
      </p:sp>
      <p:sp>
        <p:nvSpPr>
          <p:cNvPr id="24" name="TextBox 23"/>
          <p:cNvSpPr txBox="1"/>
          <p:nvPr/>
        </p:nvSpPr>
        <p:spPr>
          <a:xfrm>
            <a:off x="4709159" y="507492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Two-way tutor chat</a:t>
            </a:r>
          </a:p>
        </p:txBody>
      </p:sp>
      <p:sp>
        <p:nvSpPr>
          <p:cNvPr id="25" name="Rounded Rectangle 24"/>
          <p:cNvSpPr/>
          <p:nvPr/>
        </p:nvSpPr>
        <p:spPr>
          <a:xfrm>
            <a:off x="8138160" y="4160520"/>
            <a:ext cx="3383280" cy="169164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2480" y="4434840"/>
            <a:ext cx="411480" cy="411480"/>
          </a:xfrm>
          <a:prstGeom prst="ellipse">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7" name="TextBox 26"/>
          <p:cNvSpPr txBox="1"/>
          <p:nvPr/>
        </p:nvSpPr>
        <p:spPr>
          <a:xfrm>
            <a:off x="9006840" y="4489704"/>
            <a:ext cx="23774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Quizzes</a:t>
            </a:r>
          </a:p>
        </p:txBody>
      </p:sp>
      <p:sp>
        <p:nvSpPr>
          <p:cNvPr id="28" name="TextBox 27"/>
          <p:cNvSpPr txBox="1"/>
          <p:nvPr/>
        </p:nvSpPr>
        <p:spPr>
          <a:xfrm>
            <a:off x="8412480" y="5074920"/>
            <a:ext cx="2834640" cy="54864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Score updates profile</a:t>
            </a:r>
          </a:p>
        </p:txBody>
      </p:sp>
      <p:sp>
        <p:nvSpPr>
          <p:cNvPr id="29" name="TextBox 28"/>
          <p:cNvSpPr txBox="1"/>
          <p:nvPr/>
        </p:nvSpPr>
        <p:spPr>
          <a:xfrm>
            <a:off x="731520" y="6172200"/>
            <a:ext cx="10789920" cy="365760"/>
          </a:xfrm>
          <a:prstGeom prst="rect">
            <a:avLst/>
          </a:prstGeom>
          <a:noFill/>
        </p:spPr>
        <p:txBody>
          <a:bodyPr wrap="square" lIns="0" rIns="0" tIns="0" bIns="0" anchor="t">
            <a:spAutoFit/>
          </a:bodyPr>
          <a:lstStyle/>
          <a:p>
            <a:pPr algn="l">
              <a:lnSpc>
                <a:spcPct val="115000"/>
              </a:lnSpc>
              <a:spcAft>
                <a:spcPts val="600"/>
              </a:spcAft>
            </a:pPr>
            <a:r>
              <a:rPr sz="1300" b="0">
                <a:solidFill>
                  <a:srgbClr val="475569"/>
                </a:solidFill>
                <a:latin typeface="Calibri"/>
              </a:rPr>
              <a:t>Quiz results feed back into the profile, so the plan keeps adapting as you improve.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What the learner sees</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A real profile from a Python automation track</a:t>
            </a:r>
          </a:p>
        </p:txBody>
      </p:sp>
      <p:sp>
        <p:nvSpPr>
          <p:cNvPr id="5" name="Rounded Rectangle 4"/>
          <p:cNvSpPr/>
          <p:nvPr/>
        </p:nvSpPr>
        <p:spPr>
          <a:xfrm>
            <a:off x="731520" y="2103120"/>
            <a:ext cx="5120640" cy="39319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2377440"/>
            <a:ext cx="2743200" cy="365760"/>
          </a:xfrm>
          <a:prstGeom prst="rect">
            <a:avLst/>
          </a:prstGeom>
          <a:noFill/>
        </p:spPr>
        <p:txBody>
          <a:bodyPr wrap="square" lIns="0" rIns="0" tIns="0" bIns="0" anchor="t">
            <a:spAutoFit/>
          </a:bodyPr>
          <a:lstStyle/>
          <a:p>
            <a:pPr algn="l">
              <a:lnSpc>
                <a:spcPct val="115000"/>
              </a:lnSpc>
              <a:spcAft>
                <a:spcPts val="600"/>
              </a:spcAft>
            </a:pPr>
            <a:r>
              <a:rPr sz="1700" b="1">
                <a:solidFill>
                  <a:srgbClr val="0F172A"/>
                </a:solidFill>
                <a:latin typeface="Cambria"/>
              </a:rPr>
              <a:t>Skill profile</a:t>
            </a:r>
          </a:p>
        </p:txBody>
      </p:sp>
      <p:sp>
        <p:nvSpPr>
          <p:cNvPr id="7" name="TextBox 6"/>
          <p:cNvSpPr txBox="1"/>
          <p:nvPr/>
        </p:nvSpPr>
        <p:spPr>
          <a:xfrm>
            <a:off x="1051560" y="2834640"/>
            <a:ext cx="3657600" cy="822960"/>
          </a:xfrm>
          <a:prstGeom prst="rect">
            <a:avLst/>
          </a:prstGeom>
          <a:noFill/>
        </p:spPr>
        <p:txBody>
          <a:bodyPr wrap="square" lIns="0" rIns="0" tIns="0" bIns="0" anchor="t">
            <a:spAutoFit/>
          </a:bodyPr>
          <a:lstStyle/>
          <a:p>
            <a:pPr algn="l">
              <a:lnSpc>
                <a:spcPct val="115000"/>
              </a:lnSpc>
              <a:spcAft>
                <a:spcPts val="600"/>
              </a:spcAft>
            </a:pPr>
            <a:r>
              <a:rPr sz="4400" b="1">
                <a:solidFill>
                  <a:srgbClr val="4F46E5"/>
                </a:solidFill>
                <a:latin typeface="Cambria"/>
              </a:rPr>
              <a:t>53%</a:t>
            </a:r>
          </a:p>
        </p:txBody>
      </p:sp>
      <p:sp>
        <p:nvSpPr>
          <p:cNvPr id="8" name="TextBox 7"/>
          <p:cNvSpPr txBox="1"/>
          <p:nvPr/>
        </p:nvSpPr>
        <p:spPr>
          <a:xfrm>
            <a:off x="2377440" y="3154680"/>
            <a:ext cx="2743200" cy="3657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overall mastery  ·  Intermediate</a:t>
            </a:r>
          </a:p>
        </p:txBody>
      </p:sp>
      <p:sp>
        <p:nvSpPr>
          <p:cNvPr id="9" name="TextBox 8"/>
          <p:cNvSpPr txBox="1"/>
          <p:nvPr/>
        </p:nvSpPr>
        <p:spPr>
          <a:xfrm>
            <a:off x="1051560" y="3886200"/>
            <a:ext cx="3017520" cy="274320"/>
          </a:xfrm>
          <a:prstGeom prst="rect">
            <a:avLst/>
          </a:prstGeom>
          <a:noFill/>
        </p:spPr>
        <p:txBody>
          <a:bodyPr wrap="square" lIns="0" rIns="0" tIns="0" bIns="0" anchor="t">
            <a:spAutoFit/>
          </a:bodyPr>
          <a:lstStyle/>
          <a:p>
            <a:pPr algn="l">
              <a:lnSpc>
                <a:spcPct val="115000"/>
              </a:lnSpc>
              <a:spcAft>
                <a:spcPts val="600"/>
              </a:spcAft>
            </a:pPr>
            <a:r>
              <a:rPr sz="1150" b="0">
                <a:solidFill>
                  <a:srgbClr val="0F172A"/>
                </a:solidFill>
                <a:latin typeface="Calibri"/>
              </a:rPr>
              <a:t>Python fundamentals</a:t>
            </a:r>
          </a:p>
        </p:txBody>
      </p:sp>
      <p:sp>
        <p:nvSpPr>
          <p:cNvPr id="10" name="TextBox 9"/>
          <p:cNvSpPr txBox="1"/>
          <p:nvPr/>
        </p:nvSpPr>
        <p:spPr>
          <a:xfrm>
            <a:off x="5029200" y="3886200"/>
            <a:ext cx="548640" cy="274320"/>
          </a:xfrm>
          <a:prstGeom prst="rect">
            <a:avLst/>
          </a:prstGeom>
          <a:noFill/>
        </p:spPr>
        <p:txBody>
          <a:bodyPr wrap="square" lIns="0" rIns="0" tIns="0" bIns="0" anchor="t">
            <a:spAutoFit/>
          </a:bodyPr>
          <a:lstStyle/>
          <a:p>
            <a:pPr algn="r">
              <a:lnSpc>
                <a:spcPct val="115000"/>
              </a:lnSpc>
              <a:spcAft>
                <a:spcPts val="600"/>
              </a:spcAft>
            </a:pPr>
            <a:r>
              <a:rPr sz="1150" b="0">
                <a:solidFill>
                  <a:srgbClr val="475569"/>
                </a:solidFill>
                <a:latin typeface="Calibri"/>
              </a:rPr>
              <a:t>45%</a:t>
            </a:r>
          </a:p>
        </p:txBody>
      </p:sp>
      <p:sp>
        <p:nvSpPr>
          <p:cNvPr id="11" name="Rounded Rectangle 10"/>
          <p:cNvSpPr/>
          <p:nvPr/>
        </p:nvSpPr>
        <p:spPr>
          <a:xfrm>
            <a:off x="1051560" y="4105656"/>
            <a:ext cx="4526280" cy="128016"/>
          </a:xfrm>
          <a:prstGeom prst="roundRect">
            <a:avLst>
              <a:gd name="adj" fmla="val 50000"/>
            </a:avLst>
          </a:prstGeom>
          <a:solidFill>
            <a:srgbClr val="E9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 y="4105656"/>
            <a:ext cx="2036826" cy="12801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297680"/>
            <a:ext cx="3017520" cy="274320"/>
          </a:xfrm>
          <a:prstGeom prst="rect">
            <a:avLst/>
          </a:prstGeom>
          <a:noFill/>
        </p:spPr>
        <p:txBody>
          <a:bodyPr wrap="square" lIns="0" rIns="0" tIns="0" bIns="0" anchor="t">
            <a:spAutoFit/>
          </a:bodyPr>
          <a:lstStyle/>
          <a:p>
            <a:pPr algn="l">
              <a:lnSpc>
                <a:spcPct val="115000"/>
              </a:lnSpc>
              <a:spcAft>
                <a:spcPts val="600"/>
              </a:spcAft>
            </a:pPr>
            <a:r>
              <a:rPr sz="1150" b="0">
                <a:solidFill>
                  <a:srgbClr val="0F172A"/>
                </a:solidFill>
                <a:latin typeface="Calibri"/>
              </a:rPr>
              <a:t>Control flow syntax</a:t>
            </a:r>
          </a:p>
        </p:txBody>
      </p:sp>
      <p:sp>
        <p:nvSpPr>
          <p:cNvPr id="14" name="TextBox 13"/>
          <p:cNvSpPr txBox="1"/>
          <p:nvPr/>
        </p:nvSpPr>
        <p:spPr>
          <a:xfrm>
            <a:off x="5029200" y="4297680"/>
            <a:ext cx="548640" cy="274320"/>
          </a:xfrm>
          <a:prstGeom prst="rect">
            <a:avLst/>
          </a:prstGeom>
          <a:noFill/>
        </p:spPr>
        <p:txBody>
          <a:bodyPr wrap="square" lIns="0" rIns="0" tIns="0" bIns="0" anchor="t">
            <a:spAutoFit/>
          </a:bodyPr>
          <a:lstStyle/>
          <a:p>
            <a:pPr algn="r">
              <a:lnSpc>
                <a:spcPct val="115000"/>
              </a:lnSpc>
              <a:spcAft>
                <a:spcPts val="600"/>
              </a:spcAft>
            </a:pPr>
            <a:r>
              <a:rPr sz="1150" b="0">
                <a:solidFill>
                  <a:srgbClr val="475569"/>
                </a:solidFill>
                <a:latin typeface="Calibri"/>
              </a:rPr>
              <a:t>70%</a:t>
            </a:r>
          </a:p>
        </p:txBody>
      </p:sp>
      <p:sp>
        <p:nvSpPr>
          <p:cNvPr id="15" name="Rounded Rectangle 14"/>
          <p:cNvSpPr/>
          <p:nvPr/>
        </p:nvSpPr>
        <p:spPr>
          <a:xfrm>
            <a:off x="1051560" y="4517136"/>
            <a:ext cx="4526280" cy="128016"/>
          </a:xfrm>
          <a:prstGeom prst="roundRect">
            <a:avLst>
              <a:gd name="adj" fmla="val 50000"/>
            </a:avLst>
          </a:prstGeom>
          <a:solidFill>
            <a:srgbClr val="E9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51560" y="4517136"/>
            <a:ext cx="3168396" cy="128016"/>
          </a:xfrm>
          <a:prstGeom prst="roundRect">
            <a:avLst>
              <a:gd name="adj" fmla="val 50000"/>
            </a:avLst>
          </a:prstGeom>
          <a:solidFill>
            <a:srgbClr val="1098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709160"/>
            <a:ext cx="3017520" cy="274320"/>
          </a:xfrm>
          <a:prstGeom prst="rect">
            <a:avLst/>
          </a:prstGeom>
          <a:noFill/>
        </p:spPr>
        <p:txBody>
          <a:bodyPr wrap="square" lIns="0" rIns="0" tIns="0" bIns="0" anchor="t">
            <a:spAutoFit/>
          </a:bodyPr>
          <a:lstStyle/>
          <a:p>
            <a:pPr algn="l">
              <a:lnSpc>
                <a:spcPct val="115000"/>
              </a:lnSpc>
              <a:spcAft>
                <a:spcPts val="600"/>
              </a:spcAft>
            </a:pPr>
            <a:r>
              <a:rPr sz="1150" b="0">
                <a:solidFill>
                  <a:srgbClr val="0F172A"/>
                </a:solidFill>
                <a:latin typeface="Calibri"/>
              </a:rPr>
              <a:t>Basic loops</a:t>
            </a:r>
          </a:p>
        </p:txBody>
      </p:sp>
      <p:sp>
        <p:nvSpPr>
          <p:cNvPr id="18" name="TextBox 17"/>
          <p:cNvSpPr txBox="1"/>
          <p:nvPr/>
        </p:nvSpPr>
        <p:spPr>
          <a:xfrm>
            <a:off x="5029200" y="4709160"/>
            <a:ext cx="548640" cy="274320"/>
          </a:xfrm>
          <a:prstGeom prst="rect">
            <a:avLst/>
          </a:prstGeom>
          <a:noFill/>
        </p:spPr>
        <p:txBody>
          <a:bodyPr wrap="square" lIns="0" rIns="0" tIns="0" bIns="0" anchor="t">
            <a:spAutoFit/>
          </a:bodyPr>
          <a:lstStyle/>
          <a:p>
            <a:pPr algn="r">
              <a:lnSpc>
                <a:spcPct val="115000"/>
              </a:lnSpc>
              <a:spcAft>
                <a:spcPts val="600"/>
              </a:spcAft>
            </a:pPr>
            <a:r>
              <a:rPr sz="1150" b="0">
                <a:solidFill>
                  <a:srgbClr val="475569"/>
                </a:solidFill>
                <a:latin typeface="Calibri"/>
              </a:rPr>
              <a:t>55%</a:t>
            </a:r>
          </a:p>
        </p:txBody>
      </p:sp>
      <p:sp>
        <p:nvSpPr>
          <p:cNvPr id="19" name="Rounded Rectangle 18"/>
          <p:cNvSpPr/>
          <p:nvPr/>
        </p:nvSpPr>
        <p:spPr>
          <a:xfrm>
            <a:off x="1051560" y="4928616"/>
            <a:ext cx="4526280" cy="128016"/>
          </a:xfrm>
          <a:prstGeom prst="roundRect">
            <a:avLst>
              <a:gd name="adj" fmla="val 50000"/>
            </a:avLst>
          </a:prstGeom>
          <a:solidFill>
            <a:srgbClr val="E9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51560" y="4928616"/>
            <a:ext cx="2489454" cy="12801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120640"/>
            <a:ext cx="3017520" cy="274320"/>
          </a:xfrm>
          <a:prstGeom prst="rect">
            <a:avLst/>
          </a:prstGeom>
          <a:noFill/>
        </p:spPr>
        <p:txBody>
          <a:bodyPr wrap="square" lIns="0" rIns="0" tIns="0" bIns="0" anchor="t">
            <a:spAutoFit/>
          </a:bodyPr>
          <a:lstStyle/>
          <a:p>
            <a:pPr algn="l">
              <a:lnSpc>
                <a:spcPct val="115000"/>
              </a:lnSpc>
              <a:spcAft>
                <a:spcPts val="600"/>
              </a:spcAft>
            </a:pPr>
            <a:r>
              <a:rPr sz="1150" b="0">
                <a:solidFill>
                  <a:srgbClr val="0F172A"/>
                </a:solidFill>
                <a:latin typeface="Calibri"/>
              </a:rPr>
              <a:t>Loop helpers (enumerate)</a:t>
            </a:r>
          </a:p>
        </p:txBody>
      </p:sp>
      <p:sp>
        <p:nvSpPr>
          <p:cNvPr id="22" name="TextBox 21"/>
          <p:cNvSpPr txBox="1"/>
          <p:nvPr/>
        </p:nvSpPr>
        <p:spPr>
          <a:xfrm>
            <a:off x="5029200" y="5120640"/>
            <a:ext cx="548640" cy="274320"/>
          </a:xfrm>
          <a:prstGeom prst="rect">
            <a:avLst/>
          </a:prstGeom>
          <a:noFill/>
        </p:spPr>
        <p:txBody>
          <a:bodyPr wrap="square" lIns="0" rIns="0" tIns="0" bIns="0" anchor="t">
            <a:spAutoFit/>
          </a:bodyPr>
          <a:lstStyle/>
          <a:p>
            <a:pPr algn="r">
              <a:lnSpc>
                <a:spcPct val="115000"/>
              </a:lnSpc>
              <a:spcAft>
                <a:spcPts val="600"/>
              </a:spcAft>
            </a:pPr>
            <a:r>
              <a:rPr sz="1150" b="0">
                <a:solidFill>
                  <a:srgbClr val="475569"/>
                </a:solidFill>
                <a:latin typeface="Calibri"/>
              </a:rPr>
              <a:t>30%</a:t>
            </a:r>
          </a:p>
        </p:txBody>
      </p:sp>
      <p:sp>
        <p:nvSpPr>
          <p:cNvPr id="23" name="Rounded Rectangle 22"/>
          <p:cNvSpPr/>
          <p:nvPr/>
        </p:nvSpPr>
        <p:spPr>
          <a:xfrm>
            <a:off x="1051560" y="5340096"/>
            <a:ext cx="4526280" cy="128016"/>
          </a:xfrm>
          <a:prstGeom prst="roundRect">
            <a:avLst>
              <a:gd name="adj" fmla="val 50000"/>
            </a:avLst>
          </a:prstGeom>
          <a:solidFill>
            <a:srgbClr val="E9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51560" y="5340096"/>
            <a:ext cx="1357884" cy="128016"/>
          </a:xfrm>
          <a:prstGeom prst="roundRect">
            <a:avLst>
              <a:gd name="adj" fmla="val 5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532120"/>
            <a:ext cx="3017520" cy="274320"/>
          </a:xfrm>
          <a:prstGeom prst="rect">
            <a:avLst/>
          </a:prstGeom>
          <a:noFill/>
        </p:spPr>
        <p:txBody>
          <a:bodyPr wrap="square" lIns="0" rIns="0" tIns="0" bIns="0" anchor="t">
            <a:spAutoFit/>
          </a:bodyPr>
          <a:lstStyle/>
          <a:p>
            <a:pPr algn="l">
              <a:lnSpc>
                <a:spcPct val="115000"/>
              </a:lnSpc>
              <a:spcAft>
                <a:spcPts val="600"/>
              </a:spcAft>
            </a:pPr>
            <a:r>
              <a:rPr sz="1150" b="0">
                <a:solidFill>
                  <a:srgbClr val="0F172A"/>
                </a:solidFill>
                <a:latin typeface="Calibri"/>
              </a:rPr>
              <a:t>Functions</a:t>
            </a:r>
          </a:p>
        </p:txBody>
      </p:sp>
      <p:sp>
        <p:nvSpPr>
          <p:cNvPr id="26" name="TextBox 25"/>
          <p:cNvSpPr txBox="1"/>
          <p:nvPr/>
        </p:nvSpPr>
        <p:spPr>
          <a:xfrm>
            <a:off x="5029200" y="5532120"/>
            <a:ext cx="548640" cy="274320"/>
          </a:xfrm>
          <a:prstGeom prst="rect">
            <a:avLst/>
          </a:prstGeom>
          <a:noFill/>
        </p:spPr>
        <p:txBody>
          <a:bodyPr wrap="square" lIns="0" rIns="0" tIns="0" bIns="0" anchor="t">
            <a:spAutoFit/>
          </a:bodyPr>
          <a:lstStyle/>
          <a:p>
            <a:pPr algn="r">
              <a:lnSpc>
                <a:spcPct val="115000"/>
              </a:lnSpc>
              <a:spcAft>
                <a:spcPts val="600"/>
              </a:spcAft>
            </a:pPr>
            <a:r>
              <a:rPr sz="1150" b="0">
                <a:solidFill>
                  <a:srgbClr val="475569"/>
                </a:solidFill>
                <a:latin typeface="Calibri"/>
              </a:rPr>
              <a:t>65%</a:t>
            </a:r>
          </a:p>
        </p:txBody>
      </p:sp>
      <p:sp>
        <p:nvSpPr>
          <p:cNvPr id="27" name="Rounded Rectangle 26"/>
          <p:cNvSpPr/>
          <p:nvPr/>
        </p:nvSpPr>
        <p:spPr>
          <a:xfrm>
            <a:off x="1051560" y="5751576"/>
            <a:ext cx="4526280" cy="128016"/>
          </a:xfrm>
          <a:prstGeom prst="roundRect">
            <a:avLst>
              <a:gd name="adj" fmla="val 50000"/>
            </a:avLst>
          </a:prstGeom>
          <a:solidFill>
            <a:srgbClr val="E9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51560" y="5751576"/>
            <a:ext cx="2942082" cy="128016"/>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09360" y="2103120"/>
            <a:ext cx="5120640" cy="393192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29400" y="2377440"/>
            <a:ext cx="4114800" cy="365760"/>
          </a:xfrm>
          <a:prstGeom prst="rect">
            <a:avLst/>
          </a:prstGeom>
          <a:noFill/>
        </p:spPr>
        <p:txBody>
          <a:bodyPr wrap="square" lIns="0" rIns="0" tIns="0" bIns="0" anchor="t">
            <a:spAutoFit/>
          </a:bodyPr>
          <a:lstStyle/>
          <a:p>
            <a:pPr algn="l">
              <a:lnSpc>
                <a:spcPct val="115000"/>
              </a:lnSpc>
              <a:spcAft>
                <a:spcPts val="600"/>
              </a:spcAft>
            </a:pPr>
            <a:r>
              <a:rPr sz="1700" b="1">
                <a:solidFill>
                  <a:srgbClr val="0F172A"/>
                </a:solidFill>
                <a:latin typeface="Cambria"/>
              </a:rPr>
              <a:t>Your learning plan</a:t>
            </a:r>
          </a:p>
        </p:txBody>
      </p:sp>
      <p:sp>
        <p:nvSpPr>
          <p:cNvPr id="31" name="Oval 30"/>
          <p:cNvSpPr/>
          <p:nvPr/>
        </p:nvSpPr>
        <p:spPr>
          <a:xfrm>
            <a:off x="6629400" y="2971800"/>
            <a:ext cx="365760" cy="36576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32" name="TextBox 31"/>
          <p:cNvSpPr txBox="1"/>
          <p:nvPr/>
        </p:nvSpPr>
        <p:spPr>
          <a:xfrm>
            <a:off x="7132320" y="2990088"/>
            <a:ext cx="4023360" cy="274320"/>
          </a:xfrm>
          <a:prstGeom prst="rect">
            <a:avLst/>
          </a:prstGeom>
          <a:noFill/>
        </p:spPr>
        <p:txBody>
          <a:bodyPr wrap="square" lIns="0" rIns="0" tIns="0" bIns="0" anchor="t">
            <a:spAutoFit/>
          </a:bodyPr>
          <a:lstStyle/>
          <a:p>
            <a:pPr algn="l">
              <a:lnSpc>
                <a:spcPct val="115000"/>
              </a:lnSpc>
              <a:spcAft>
                <a:spcPts val="600"/>
              </a:spcAft>
            </a:pPr>
            <a:r>
              <a:rPr sz="1350" b="1">
                <a:solidFill>
                  <a:srgbClr val="0F172A"/>
                </a:solidFill>
                <a:latin typeface="Calibri"/>
              </a:rPr>
              <a:t>Python Syntax Refresher</a:t>
            </a:r>
          </a:p>
        </p:txBody>
      </p:sp>
      <p:sp>
        <p:nvSpPr>
          <p:cNvPr id="33" name="TextBox 32"/>
          <p:cNvSpPr txBox="1"/>
          <p:nvPr/>
        </p:nvSpPr>
        <p:spPr>
          <a:xfrm>
            <a:off x="7132320" y="3273552"/>
            <a:ext cx="4023360" cy="274320"/>
          </a:xfrm>
          <a:prstGeom prst="rect">
            <a:avLst/>
          </a:prstGeom>
          <a:noFill/>
        </p:spPr>
        <p:txBody>
          <a:bodyPr wrap="square" lIns="0" rIns="0" tIns="0" bIns="0" anchor="t">
            <a:spAutoFit/>
          </a:bodyPr>
          <a:lstStyle/>
          <a:p>
            <a:pPr algn="l">
              <a:lnSpc>
                <a:spcPct val="115000"/>
              </a:lnSpc>
              <a:spcAft>
                <a:spcPts val="600"/>
              </a:spcAft>
            </a:pPr>
            <a:r>
              <a:rPr sz="1100" b="0">
                <a:solidFill>
                  <a:srgbClr val="475569"/>
                </a:solidFill>
                <a:latin typeface="Calibri"/>
              </a:rPr>
              <a:t>Fixes the gap that blocks all later code  ·  ~30 min</a:t>
            </a:r>
          </a:p>
        </p:txBody>
      </p:sp>
      <p:sp>
        <p:nvSpPr>
          <p:cNvPr id="34" name="Oval 33"/>
          <p:cNvSpPr/>
          <p:nvPr/>
        </p:nvSpPr>
        <p:spPr>
          <a:xfrm>
            <a:off x="6629400" y="3749039"/>
            <a:ext cx="365760" cy="365760"/>
          </a:xfrm>
          <a:prstGeom prst="ellips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475569"/>
                </a:solidFill>
                <a:latin typeface="Calibri"/>
              </a:rPr>
              <a:t>2</a:t>
            </a:r>
          </a:p>
        </p:txBody>
      </p:sp>
      <p:sp>
        <p:nvSpPr>
          <p:cNvPr id="35" name="TextBox 34"/>
          <p:cNvSpPr txBox="1"/>
          <p:nvPr/>
        </p:nvSpPr>
        <p:spPr>
          <a:xfrm>
            <a:off x="7132320" y="3767327"/>
            <a:ext cx="4023360" cy="274320"/>
          </a:xfrm>
          <a:prstGeom prst="rect">
            <a:avLst/>
          </a:prstGeom>
          <a:noFill/>
        </p:spPr>
        <p:txBody>
          <a:bodyPr wrap="square" lIns="0" rIns="0" tIns="0" bIns="0" anchor="t">
            <a:spAutoFit/>
          </a:bodyPr>
          <a:lstStyle/>
          <a:p>
            <a:pPr algn="l">
              <a:lnSpc>
                <a:spcPct val="115000"/>
              </a:lnSpc>
              <a:spcAft>
                <a:spcPts val="600"/>
              </a:spcAft>
            </a:pPr>
            <a:r>
              <a:rPr sz="1350" b="1">
                <a:solidFill>
                  <a:srgbClr val="0F172A"/>
                </a:solidFill>
                <a:latin typeface="Calibri"/>
              </a:rPr>
              <a:t>Fundamentals of Loops</a:t>
            </a:r>
          </a:p>
        </p:txBody>
      </p:sp>
      <p:sp>
        <p:nvSpPr>
          <p:cNvPr id="36" name="TextBox 35"/>
          <p:cNvSpPr txBox="1"/>
          <p:nvPr/>
        </p:nvSpPr>
        <p:spPr>
          <a:xfrm>
            <a:off x="7132320" y="4050791"/>
            <a:ext cx="4023360" cy="274320"/>
          </a:xfrm>
          <a:prstGeom prst="rect">
            <a:avLst/>
          </a:prstGeom>
          <a:noFill/>
        </p:spPr>
        <p:txBody>
          <a:bodyPr wrap="square" lIns="0" rIns="0" tIns="0" bIns="0" anchor="t">
            <a:spAutoFit/>
          </a:bodyPr>
          <a:lstStyle/>
          <a:p>
            <a:pPr algn="l">
              <a:lnSpc>
                <a:spcPct val="115000"/>
              </a:lnSpc>
              <a:spcAft>
                <a:spcPts val="600"/>
              </a:spcAft>
            </a:pPr>
            <a:r>
              <a:rPr sz="1100" b="0">
                <a:solidFill>
                  <a:srgbClr val="475569"/>
                </a:solidFill>
                <a:latin typeface="Calibri"/>
              </a:rPr>
              <a:t>Iterate over data, the core automation skill  ·  ~40 min</a:t>
            </a:r>
          </a:p>
        </p:txBody>
      </p:sp>
      <p:sp>
        <p:nvSpPr>
          <p:cNvPr id="37" name="Oval 36"/>
          <p:cNvSpPr/>
          <p:nvPr/>
        </p:nvSpPr>
        <p:spPr>
          <a:xfrm>
            <a:off x="6629400" y="4526280"/>
            <a:ext cx="365760" cy="365760"/>
          </a:xfrm>
          <a:prstGeom prst="ellips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475569"/>
                </a:solidFill>
                <a:latin typeface="Calibri"/>
              </a:rPr>
              <a:t>3</a:t>
            </a:r>
          </a:p>
        </p:txBody>
      </p:sp>
      <p:sp>
        <p:nvSpPr>
          <p:cNvPr id="38" name="TextBox 37"/>
          <p:cNvSpPr txBox="1"/>
          <p:nvPr/>
        </p:nvSpPr>
        <p:spPr>
          <a:xfrm>
            <a:off x="7132320" y="4544568"/>
            <a:ext cx="4023360" cy="274320"/>
          </a:xfrm>
          <a:prstGeom prst="rect">
            <a:avLst/>
          </a:prstGeom>
          <a:noFill/>
        </p:spPr>
        <p:txBody>
          <a:bodyPr wrap="square" lIns="0" rIns="0" tIns="0" bIns="0" anchor="t">
            <a:spAutoFit/>
          </a:bodyPr>
          <a:lstStyle/>
          <a:p>
            <a:pPr algn="l">
              <a:lnSpc>
                <a:spcPct val="115000"/>
              </a:lnSpc>
              <a:spcAft>
                <a:spcPts val="600"/>
              </a:spcAft>
            </a:pPr>
            <a:r>
              <a:rPr sz="1350" b="1">
                <a:solidFill>
                  <a:srgbClr val="0F172A"/>
                </a:solidFill>
                <a:latin typeface="Calibri"/>
              </a:rPr>
              <a:t>Loop helpers in practice</a:t>
            </a:r>
          </a:p>
        </p:txBody>
      </p:sp>
      <p:sp>
        <p:nvSpPr>
          <p:cNvPr id="39" name="TextBox 38"/>
          <p:cNvSpPr txBox="1"/>
          <p:nvPr/>
        </p:nvSpPr>
        <p:spPr>
          <a:xfrm>
            <a:off x="7132320" y="4828032"/>
            <a:ext cx="4023360" cy="274320"/>
          </a:xfrm>
          <a:prstGeom prst="rect">
            <a:avLst/>
          </a:prstGeom>
          <a:noFill/>
        </p:spPr>
        <p:txBody>
          <a:bodyPr wrap="square" lIns="0" rIns="0" tIns="0" bIns="0" anchor="t">
            <a:spAutoFit/>
          </a:bodyPr>
          <a:lstStyle/>
          <a:p>
            <a:pPr algn="l">
              <a:lnSpc>
                <a:spcPct val="115000"/>
              </a:lnSpc>
              <a:spcAft>
                <a:spcPts val="600"/>
              </a:spcAft>
            </a:pPr>
            <a:r>
              <a:rPr sz="1100" b="0">
                <a:solidFill>
                  <a:srgbClr val="475569"/>
                </a:solidFill>
                <a:latin typeface="Calibri"/>
              </a:rPr>
              <a:t>enumerate, zip, index vs value  ·  ~35 min</a:t>
            </a:r>
          </a:p>
        </p:txBody>
      </p:sp>
      <p:sp>
        <p:nvSpPr>
          <p:cNvPr id="40" name="Oval 39"/>
          <p:cNvSpPr/>
          <p:nvPr/>
        </p:nvSpPr>
        <p:spPr>
          <a:xfrm>
            <a:off x="6629400" y="5303520"/>
            <a:ext cx="365760" cy="365760"/>
          </a:xfrm>
          <a:prstGeom prst="ellipse">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475569"/>
                </a:solidFill>
                <a:latin typeface="Calibri"/>
              </a:rPr>
              <a:t>4</a:t>
            </a:r>
          </a:p>
        </p:txBody>
      </p:sp>
      <p:sp>
        <p:nvSpPr>
          <p:cNvPr id="41" name="TextBox 40"/>
          <p:cNvSpPr txBox="1"/>
          <p:nvPr/>
        </p:nvSpPr>
        <p:spPr>
          <a:xfrm>
            <a:off x="7132320" y="5321807"/>
            <a:ext cx="4023360" cy="274320"/>
          </a:xfrm>
          <a:prstGeom prst="rect">
            <a:avLst/>
          </a:prstGeom>
          <a:noFill/>
        </p:spPr>
        <p:txBody>
          <a:bodyPr wrap="square" lIns="0" rIns="0" tIns="0" bIns="0" anchor="t">
            <a:spAutoFit/>
          </a:bodyPr>
          <a:lstStyle/>
          <a:p>
            <a:pPr algn="l">
              <a:lnSpc>
                <a:spcPct val="115000"/>
              </a:lnSpc>
              <a:spcAft>
                <a:spcPts val="600"/>
              </a:spcAft>
            </a:pPr>
            <a:r>
              <a:rPr sz="1350" b="1">
                <a:solidFill>
                  <a:srgbClr val="0F172A"/>
                </a:solidFill>
                <a:latin typeface="Calibri"/>
              </a:rPr>
              <a:t>Reusable functions</a:t>
            </a:r>
          </a:p>
        </p:txBody>
      </p:sp>
      <p:sp>
        <p:nvSpPr>
          <p:cNvPr id="42" name="TextBox 41"/>
          <p:cNvSpPr txBox="1"/>
          <p:nvPr/>
        </p:nvSpPr>
        <p:spPr>
          <a:xfrm>
            <a:off x="7132320" y="5605272"/>
            <a:ext cx="4023360" cy="274320"/>
          </a:xfrm>
          <a:prstGeom prst="rect">
            <a:avLst/>
          </a:prstGeom>
          <a:noFill/>
        </p:spPr>
        <p:txBody>
          <a:bodyPr wrap="square" lIns="0" rIns="0" tIns="0" bIns="0" anchor="t">
            <a:spAutoFit/>
          </a:bodyPr>
          <a:lstStyle/>
          <a:p>
            <a:pPr algn="l">
              <a:lnSpc>
                <a:spcPct val="115000"/>
              </a:lnSpc>
              <a:spcAft>
                <a:spcPts val="600"/>
              </a:spcAft>
            </a:pPr>
            <a:r>
              <a:rPr sz="1100" b="0">
                <a:solidFill>
                  <a:srgbClr val="475569"/>
                </a:solidFill>
                <a:latin typeface="Calibri"/>
              </a:rPr>
              <a:t>Turn working code into building blocks  ·  ~45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What makes it adaptive</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Three feedback loops, not one questionnaire</a:t>
            </a:r>
          </a:p>
        </p:txBody>
      </p:sp>
      <p:sp>
        <p:nvSpPr>
          <p:cNvPr id="5" name="Rounded Rectangle 4"/>
          <p:cNvSpPr/>
          <p:nvPr/>
        </p:nvSpPr>
        <p:spPr>
          <a:xfrm>
            <a:off x="731520" y="2148840"/>
            <a:ext cx="10698480" cy="114300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05840" y="2450592"/>
            <a:ext cx="548640" cy="5486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7" name="TextBox 6"/>
          <p:cNvSpPr txBox="1"/>
          <p:nvPr/>
        </p:nvSpPr>
        <p:spPr>
          <a:xfrm>
            <a:off x="1783080" y="2331720"/>
            <a:ext cx="28346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Within the skill check</a:t>
            </a:r>
          </a:p>
        </p:txBody>
      </p:sp>
      <p:sp>
        <p:nvSpPr>
          <p:cNvPr id="8" name="TextBox 7"/>
          <p:cNvSpPr txBox="1"/>
          <p:nvPr/>
        </p:nvSpPr>
        <p:spPr>
          <a:xfrm>
            <a:off x="4754880" y="2350008"/>
            <a:ext cx="6400800" cy="8229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Each question is written after reading the previous answer. Correct means harder or a new sub-topic; wrong or "I don't know" means easier, or a probe next door.</a:t>
            </a:r>
          </a:p>
        </p:txBody>
      </p:sp>
      <p:sp>
        <p:nvSpPr>
          <p:cNvPr id="9" name="Rounded Rectangle 8"/>
          <p:cNvSpPr/>
          <p:nvPr/>
        </p:nvSpPr>
        <p:spPr>
          <a:xfrm>
            <a:off x="731520" y="3474720"/>
            <a:ext cx="10698480" cy="11430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05840" y="3776472"/>
            <a:ext cx="548640" cy="5486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11" name="TextBox 10"/>
          <p:cNvSpPr txBox="1"/>
          <p:nvPr/>
        </p:nvSpPr>
        <p:spPr>
          <a:xfrm>
            <a:off x="1783080" y="3657600"/>
            <a:ext cx="28346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Within a lesson</a:t>
            </a:r>
          </a:p>
        </p:txBody>
      </p:sp>
      <p:sp>
        <p:nvSpPr>
          <p:cNvPr id="12" name="TextBox 11"/>
          <p:cNvSpPr txBox="1"/>
          <p:nvPr/>
        </p:nvSpPr>
        <p:spPr>
          <a:xfrm>
            <a:off x="4754880" y="3675887"/>
            <a:ext cx="6400800" cy="8229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The tutor teaches one idea, then asks. Struggling gets a different explanation, not a repeat. "I know this" moves faster.</a:t>
            </a:r>
          </a:p>
        </p:txBody>
      </p:sp>
      <p:sp>
        <p:nvSpPr>
          <p:cNvPr id="13" name="Rounded Rectangle 12"/>
          <p:cNvSpPr/>
          <p:nvPr/>
        </p:nvSpPr>
        <p:spPr>
          <a:xfrm>
            <a:off x="731520" y="4800600"/>
            <a:ext cx="10698480" cy="114300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05840" y="5102352"/>
            <a:ext cx="548640" cy="5486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15" name="TextBox 14"/>
          <p:cNvSpPr txBox="1"/>
          <p:nvPr/>
        </p:nvSpPr>
        <p:spPr>
          <a:xfrm>
            <a:off x="1783080" y="4983480"/>
            <a:ext cx="283464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Across the track</a:t>
            </a:r>
          </a:p>
        </p:txBody>
      </p:sp>
      <p:sp>
        <p:nvSpPr>
          <p:cNvPr id="16" name="TextBox 15"/>
          <p:cNvSpPr txBox="1"/>
          <p:nvPr/>
        </p:nvSpPr>
        <p:spPr>
          <a:xfrm>
            <a:off x="4754880" y="5001768"/>
            <a:ext cx="6400800" cy="8229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Quiz grading returns new mastery numbers per sub-topic. The profile moves, and later lessons and quizzes are pitched from the new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The product is seven prompts</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No fine-tuning, no training data - written instructions plus a strict reply format</a:t>
            </a:r>
          </a:p>
        </p:txBody>
      </p:sp>
      <p:sp>
        <p:nvSpPr>
          <p:cNvPr id="5" name="Rounded Rectangle 4"/>
          <p:cNvSpPr/>
          <p:nvPr/>
        </p:nvSpPr>
        <p:spPr>
          <a:xfrm>
            <a:off x="731520" y="2194560"/>
            <a:ext cx="2514600" cy="11430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23957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Assessor</a:t>
            </a:r>
          </a:p>
        </p:txBody>
      </p:sp>
      <p:sp>
        <p:nvSpPr>
          <p:cNvPr id="7" name="TextBox 6"/>
          <p:cNvSpPr txBox="1"/>
          <p:nvPr/>
        </p:nvSpPr>
        <p:spPr>
          <a:xfrm>
            <a:off x="960120" y="2761488"/>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One adaptive question at a time</a:t>
            </a:r>
          </a:p>
        </p:txBody>
      </p:sp>
      <p:sp>
        <p:nvSpPr>
          <p:cNvPr id="8" name="Rounded Rectangle 7"/>
          <p:cNvSpPr/>
          <p:nvPr/>
        </p:nvSpPr>
        <p:spPr>
          <a:xfrm>
            <a:off x="3474720" y="2194560"/>
            <a:ext cx="2514600" cy="11430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03320" y="23957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Analyst</a:t>
            </a:r>
          </a:p>
        </p:txBody>
      </p:sp>
      <p:sp>
        <p:nvSpPr>
          <p:cNvPr id="10" name="TextBox 9"/>
          <p:cNvSpPr txBox="1"/>
          <p:nvPr/>
        </p:nvSpPr>
        <p:spPr>
          <a:xfrm>
            <a:off x="3703320" y="2761488"/>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Answers to mastery scores</a:t>
            </a:r>
          </a:p>
        </p:txBody>
      </p:sp>
      <p:sp>
        <p:nvSpPr>
          <p:cNvPr id="11" name="Rounded Rectangle 10"/>
          <p:cNvSpPr/>
          <p:nvPr/>
        </p:nvSpPr>
        <p:spPr>
          <a:xfrm>
            <a:off x="6217920" y="2194560"/>
            <a:ext cx="2514600" cy="11430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46520" y="23957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Planner</a:t>
            </a:r>
          </a:p>
        </p:txBody>
      </p:sp>
      <p:sp>
        <p:nvSpPr>
          <p:cNvPr id="13" name="TextBox 12"/>
          <p:cNvSpPr txBox="1"/>
          <p:nvPr/>
        </p:nvSpPr>
        <p:spPr>
          <a:xfrm>
            <a:off x="6446520" y="2761488"/>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Modules ordered by what blocks the goal</a:t>
            </a:r>
          </a:p>
        </p:txBody>
      </p:sp>
      <p:sp>
        <p:nvSpPr>
          <p:cNvPr id="14" name="Rounded Rectangle 13"/>
          <p:cNvSpPr/>
          <p:nvPr/>
        </p:nvSpPr>
        <p:spPr>
          <a:xfrm>
            <a:off x="8961120" y="2194560"/>
            <a:ext cx="2514600" cy="11430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89720" y="23957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Course scout</a:t>
            </a:r>
          </a:p>
        </p:txBody>
      </p:sp>
      <p:sp>
        <p:nvSpPr>
          <p:cNvPr id="16" name="TextBox 15"/>
          <p:cNvSpPr txBox="1"/>
          <p:nvPr/>
        </p:nvSpPr>
        <p:spPr>
          <a:xfrm>
            <a:off x="9189720" y="2761488"/>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Real courses, never invented</a:t>
            </a:r>
          </a:p>
        </p:txBody>
      </p:sp>
      <p:sp>
        <p:nvSpPr>
          <p:cNvPr id="17" name="Rounded Rectangle 16"/>
          <p:cNvSpPr/>
          <p:nvPr/>
        </p:nvSpPr>
        <p:spPr>
          <a:xfrm>
            <a:off x="731520" y="3566160"/>
            <a:ext cx="2514600" cy="1143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0120" y="37673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Tutor</a:t>
            </a:r>
          </a:p>
        </p:txBody>
      </p:sp>
      <p:sp>
        <p:nvSpPr>
          <p:cNvPr id="19" name="TextBox 18"/>
          <p:cNvSpPr txBox="1"/>
          <p:nvPr/>
        </p:nvSpPr>
        <p:spPr>
          <a:xfrm>
            <a:off x="960120" y="4133087"/>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Teach a step, then ask</a:t>
            </a:r>
          </a:p>
        </p:txBody>
      </p:sp>
      <p:sp>
        <p:nvSpPr>
          <p:cNvPr id="20" name="Rounded Rectangle 19"/>
          <p:cNvSpPr/>
          <p:nvPr/>
        </p:nvSpPr>
        <p:spPr>
          <a:xfrm>
            <a:off x="3474720" y="3566160"/>
            <a:ext cx="2514600" cy="1143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03320" y="37673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Quiz writer</a:t>
            </a:r>
          </a:p>
        </p:txBody>
      </p:sp>
      <p:sp>
        <p:nvSpPr>
          <p:cNvPr id="22" name="TextBox 21"/>
          <p:cNvSpPr txBox="1"/>
          <p:nvPr/>
        </p:nvSpPr>
        <p:spPr>
          <a:xfrm>
            <a:off x="3703320" y="4133087"/>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4 questions on this module</a:t>
            </a:r>
          </a:p>
        </p:txBody>
      </p:sp>
      <p:sp>
        <p:nvSpPr>
          <p:cNvPr id="23" name="Rounded Rectangle 22"/>
          <p:cNvSpPr/>
          <p:nvPr/>
        </p:nvSpPr>
        <p:spPr>
          <a:xfrm>
            <a:off x="6217920" y="3566160"/>
            <a:ext cx="2514600" cy="11430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46520" y="3767328"/>
            <a:ext cx="2103120" cy="320040"/>
          </a:xfrm>
          <a:prstGeom prst="rect">
            <a:avLst/>
          </a:prstGeom>
          <a:noFill/>
        </p:spPr>
        <p:txBody>
          <a:bodyPr wrap="square" lIns="0" rIns="0" tIns="0" bIns="0" anchor="t">
            <a:spAutoFit/>
          </a:bodyPr>
          <a:lstStyle/>
          <a:p>
            <a:pPr algn="l">
              <a:lnSpc>
                <a:spcPct val="115000"/>
              </a:lnSpc>
              <a:spcAft>
                <a:spcPts val="600"/>
              </a:spcAft>
            </a:pPr>
            <a:r>
              <a:rPr sz="1450" b="1">
                <a:solidFill>
                  <a:srgbClr val="1E1B4B"/>
                </a:solidFill>
                <a:latin typeface="Cambria"/>
              </a:rPr>
              <a:t>Grader</a:t>
            </a:r>
          </a:p>
        </p:txBody>
      </p:sp>
      <p:sp>
        <p:nvSpPr>
          <p:cNvPr id="25" name="TextBox 24"/>
          <p:cNvSpPr txBox="1"/>
          <p:nvPr/>
        </p:nvSpPr>
        <p:spPr>
          <a:xfrm>
            <a:off x="6446520" y="4133087"/>
            <a:ext cx="2148840" cy="50292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Mark fairly, update mastery</a:t>
            </a:r>
          </a:p>
        </p:txBody>
      </p:sp>
      <p:sp>
        <p:nvSpPr>
          <p:cNvPr id="26" name="Rounded Rectangle 25"/>
          <p:cNvSpPr/>
          <p:nvPr/>
        </p:nvSpPr>
        <p:spPr>
          <a:xfrm>
            <a:off x="731520" y="5029200"/>
            <a:ext cx="10698480" cy="12344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51560" y="5230368"/>
            <a:ext cx="10058400" cy="32004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Each prompt pairs with a schema the reply must match</a:t>
            </a:r>
          </a:p>
        </p:txBody>
      </p:sp>
      <p:sp>
        <p:nvSpPr>
          <p:cNvPr id="28" name="TextBox 27"/>
          <p:cNvSpPr txBox="1"/>
          <p:nvPr/>
        </p:nvSpPr>
        <p:spPr>
          <a:xfrm>
            <a:off x="1051560" y="5623560"/>
            <a:ext cx="10058400" cy="548640"/>
          </a:xfrm>
          <a:prstGeom prst="rect">
            <a:avLst/>
          </a:prstGeom>
          <a:noFill/>
        </p:spPr>
        <p:txBody>
          <a:bodyPr wrap="square" lIns="0" rIns="0" tIns="0" bIns="0" anchor="t">
            <a:spAutoFit/>
          </a:bodyPr>
          <a:lstStyle/>
          <a:p>
            <a:pPr algn="l">
              <a:lnSpc>
                <a:spcPct val="115000"/>
              </a:lnSpc>
              <a:spcAft>
                <a:spcPts val="600"/>
              </a:spcAft>
            </a:pPr>
            <a:r>
              <a:rPr sz="1200" b="0">
                <a:solidFill>
                  <a:srgbClr val="475569"/>
                </a:solidFill>
                <a:latin typeface="Calibri"/>
              </a:rPr>
              <a:t>Numbers not adjectives ("6 to 10 questions", "exactly 4 options") · defined scales (mastery 0-20, 21-40, ...) · named failure modes ("never invent titles") · learner text wrapped in tags and treated as data, never instructions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Anatomy of one request</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The skill check, exactly as it is sent</a:t>
            </a:r>
          </a:p>
        </p:txBody>
      </p:sp>
      <p:sp>
        <p:nvSpPr>
          <p:cNvPr id="5" name="Rounded Rectangle 4"/>
          <p:cNvSpPr/>
          <p:nvPr/>
        </p:nvSpPr>
        <p:spPr>
          <a:xfrm>
            <a:off x="731520" y="2148840"/>
            <a:ext cx="5120640" cy="384048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2377440"/>
            <a:ext cx="4389120" cy="32004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What goes to the model</a:t>
            </a:r>
          </a:p>
        </p:txBody>
      </p:sp>
      <p:sp>
        <p:nvSpPr>
          <p:cNvPr id="7" name="Rounded Rectangle 6"/>
          <p:cNvSpPr/>
          <p:nvPr/>
        </p:nvSpPr>
        <p:spPr>
          <a:xfrm>
            <a:off x="1051560" y="2834640"/>
            <a:ext cx="448056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80160" y="2907792"/>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4F46E5"/>
                </a:solidFill>
                <a:latin typeface="Calibri"/>
              </a:rPr>
              <a:t>System prompt</a:t>
            </a:r>
          </a:p>
        </p:txBody>
      </p:sp>
      <p:sp>
        <p:nvSpPr>
          <p:cNvPr id="9" name="TextBox 8"/>
          <p:cNvSpPr txBox="1"/>
          <p:nvPr/>
        </p:nvSpPr>
        <p:spPr>
          <a:xfrm>
            <a:off x="1280160" y="3163824"/>
            <a:ext cx="4023360" cy="274320"/>
          </a:xfrm>
          <a:prstGeom prst="rect">
            <a:avLst/>
          </a:prstGeom>
          <a:noFill/>
        </p:spPr>
        <p:txBody>
          <a:bodyPr wrap="square" lIns="0" rIns="0" tIns="0" bIns="0" anchor="t">
            <a:spAutoFit/>
          </a:bodyPr>
          <a:lstStyle/>
          <a:p>
            <a:pPr algn="l">
              <a:lnSpc>
                <a:spcPct val="115000"/>
              </a:lnSpc>
              <a:spcAft>
                <a:spcPts val="600"/>
              </a:spcAft>
            </a:pPr>
            <a:r>
              <a:rPr sz="1050" b="0">
                <a:solidFill>
                  <a:srgbClr val="475569"/>
                </a:solidFill>
                <a:latin typeface="Calibri"/>
              </a:rPr>
              <a:t>The assessor's role and rules - stable, so it caches</a:t>
            </a:r>
          </a:p>
        </p:txBody>
      </p:sp>
      <p:sp>
        <p:nvSpPr>
          <p:cNvPr id="10" name="Rounded Rectangle 9"/>
          <p:cNvSpPr/>
          <p:nvPr/>
        </p:nvSpPr>
        <p:spPr>
          <a:xfrm>
            <a:off x="1051560" y="3611880"/>
            <a:ext cx="448056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80160" y="3685032"/>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4F46E5"/>
                </a:solidFill>
                <a:latin typeface="Calibri"/>
              </a:rPr>
              <a:t>Learner intro</a:t>
            </a:r>
          </a:p>
        </p:txBody>
      </p:sp>
      <p:sp>
        <p:nvSpPr>
          <p:cNvPr id="12" name="TextBox 11"/>
          <p:cNvSpPr txBox="1"/>
          <p:nvPr/>
        </p:nvSpPr>
        <p:spPr>
          <a:xfrm>
            <a:off x="1280160" y="3941064"/>
            <a:ext cx="4023360" cy="274320"/>
          </a:xfrm>
          <a:prstGeom prst="rect">
            <a:avLst/>
          </a:prstGeom>
          <a:noFill/>
        </p:spPr>
        <p:txBody>
          <a:bodyPr wrap="square" lIns="0" rIns="0" tIns="0" bIns="0" anchor="t">
            <a:spAutoFit/>
          </a:bodyPr>
          <a:lstStyle/>
          <a:p>
            <a:pPr algn="l">
              <a:lnSpc>
                <a:spcPct val="115000"/>
              </a:lnSpc>
              <a:spcAft>
                <a:spcPts val="600"/>
              </a:spcAft>
            </a:pPr>
            <a:r>
              <a:rPr sz="1050" b="0">
                <a:solidFill>
                  <a:srgbClr val="475569"/>
                </a:solidFill>
                <a:latin typeface="Calibri"/>
              </a:rPr>
              <a:t>Skill, goal, and their own words about experience</a:t>
            </a:r>
          </a:p>
        </p:txBody>
      </p:sp>
      <p:sp>
        <p:nvSpPr>
          <p:cNvPr id="13" name="Rounded Rectangle 12"/>
          <p:cNvSpPr/>
          <p:nvPr/>
        </p:nvSpPr>
        <p:spPr>
          <a:xfrm>
            <a:off x="1051560" y="4389120"/>
            <a:ext cx="448056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80160" y="4462272"/>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4F46E5"/>
                </a:solidFill>
                <a:latin typeface="Calibri"/>
              </a:rPr>
              <a:t>The conversation</a:t>
            </a:r>
          </a:p>
        </p:txBody>
      </p:sp>
      <p:sp>
        <p:nvSpPr>
          <p:cNvPr id="15" name="TextBox 14"/>
          <p:cNvSpPr txBox="1"/>
          <p:nvPr/>
        </p:nvSpPr>
        <p:spPr>
          <a:xfrm>
            <a:off x="1280160" y="4718304"/>
            <a:ext cx="4023360" cy="274320"/>
          </a:xfrm>
          <a:prstGeom prst="rect">
            <a:avLst/>
          </a:prstGeom>
          <a:noFill/>
        </p:spPr>
        <p:txBody>
          <a:bodyPr wrap="square" lIns="0" rIns="0" tIns="0" bIns="0" anchor="t">
            <a:spAutoFit/>
          </a:bodyPr>
          <a:lstStyle/>
          <a:p>
            <a:pPr algn="l">
              <a:lnSpc>
                <a:spcPct val="115000"/>
              </a:lnSpc>
              <a:spcAft>
                <a:spcPts val="600"/>
              </a:spcAft>
            </a:pPr>
            <a:r>
              <a:rPr sz="1050" b="0">
                <a:solidFill>
                  <a:srgbClr val="475569"/>
                </a:solidFill>
                <a:latin typeface="Calibri"/>
              </a:rPr>
              <a:t>Its own previous questions replayed as JSON, plus every answer</a:t>
            </a:r>
          </a:p>
        </p:txBody>
      </p:sp>
      <p:sp>
        <p:nvSpPr>
          <p:cNvPr id="16" name="Rounded Rectangle 15"/>
          <p:cNvSpPr/>
          <p:nvPr/>
        </p:nvSpPr>
        <p:spPr>
          <a:xfrm>
            <a:off x="1051560" y="5166360"/>
            <a:ext cx="448056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80160" y="5239512"/>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4F46E5"/>
                </a:solidFill>
                <a:latin typeface="Calibri"/>
              </a:rPr>
              <a:t>JSON schema</a:t>
            </a:r>
          </a:p>
        </p:txBody>
      </p:sp>
      <p:sp>
        <p:nvSpPr>
          <p:cNvPr id="18" name="TextBox 17"/>
          <p:cNvSpPr txBox="1"/>
          <p:nvPr/>
        </p:nvSpPr>
        <p:spPr>
          <a:xfrm>
            <a:off x="1280160" y="5495544"/>
            <a:ext cx="4023360" cy="274320"/>
          </a:xfrm>
          <a:prstGeom prst="rect">
            <a:avLst/>
          </a:prstGeom>
          <a:noFill/>
        </p:spPr>
        <p:txBody>
          <a:bodyPr wrap="square" lIns="0" rIns="0" tIns="0" bIns="0" anchor="t">
            <a:spAutoFit/>
          </a:bodyPr>
          <a:lstStyle/>
          <a:p>
            <a:pPr algn="l">
              <a:lnSpc>
                <a:spcPct val="115000"/>
              </a:lnSpc>
              <a:spcAft>
                <a:spcPts val="600"/>
              </a:spcAft>
            </a:pPr>
            <a:r>
              <a:rPr sz="1050" b="0">
                <a:solidFill>
                  <a:srgbClr val="475569"/>
                </a:solidFill>
                <a:latin typeface="Calibri"/>
              </a:rPr>
              <a:t>Enums, required fields, no extras allowed</a:t>
            </a:r>
          </a:p>
        </p:txBody>
      </p:sp>
      <p:sp>
        <p:nvSpPr>
          <p:cNvPr id="19" name="Rounded Rectangle 18"/>
          <p:cNvSpPr/>
          <p:nvPr/>
        </p:nvSpPr>
        <p:spPr>
          <a:xfrm>
            <a:off x="6309360" y="2148840"/>
            <a:ext cx="5120640" cy="3840480"/>
          </a:xfrm>
          <a:prstGeom prst="roundRect">
            <a:avLst>
              <a:gd name="adj" fmla="val 8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29400" y="2377440"/>
            <a:ext cx="4389120" cy="32004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What happens to the reply</a:t>
            </a:r>
          </a:p>
        </p:txBody>
      </p:sp>
      <p:sp>
        <p:nvSpPr>
          <p:cNvPr id="21" name="Oval 20"/>
          <p:cNvSpPr/>
          <p:nvPr/>
        </p:nvSpPr>
        <p:spPr>
          <a:xfrm>
            <a:off x="6629400" y="2834640"/>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22" name="TextBox 21"/>
          <p:cNvSpPr txBox="1"/>
          <p:nvPr/>
        </p:nvSpPr>
        <p:spPr>
          <a:xfrm>
            <a:off x="7040880" y="2834640"/>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FFFFFF"/>
                </a:solidFill>
                <a:latin typeface="Calibri"/>
              </a:rPr>
              <a:t>Constrain</a:t>
            </a:r>
          </a:p>
        </p:txBody>
      </p:sp>
      <p:sp>
        <p:nvSpPr>
          <p:cNvPr id="23" name="TextBox 22"/>
          <p:cNvSpPr txBox="1"/>
          <p:nvPr/>
        </p:nvSpPr>
        <p:spPr>
          <a:xfrm>
            <a:off x="8229600" y="2852928"/>
            <a:ext cx="3017520" cy="274320"/>
          </a:xfrm>
          <a:prstGeom prst="rect">
            <a:avLst/>
          </a:prstGeom>
          <a:noFill/>
        </p:spPr>
        <p:txBody>
          <a:bodyPr wrap="square" lIns="0" rIns="0" tIns="0" bIns="0" anchor="t">
            <a:spAutoFit/>
          </a:bodyPr>
          <a:lstStyle/>
          <a:p>
            <a:pPr algn="l">
              <a:lnSpc>
                <a:spcPct val="115000"/>
              </a:lnSpc>
              <a:spcAft>
                <a:spcPts val="600"/>
              </a:spcAft>
            </a:pPr>
            <a:r>
              <a:rPr sz="1050" b="0">
                <a:solidFill>
                  <a:srgbClr val="C7D2FE"/>
                </a:solidFill>
                <a:latin typeface="Calibri"/>
              </a:rPr>
              <a:t>schema enforced by the API where supported</a:t>
            </a:r>
          </a:p>
        </p:txBody>
      </p:sp>
      <p:sp>
        <p:nvSpPr>
          <p:cNvPr id="24" name="Oval 23"/>
          <p:cNvSpPr/>
          <p:nvPr/>
        </p:nvSpPr>
        <p:spPr>
          <a:xfrm>
            <a:off x="6629400" y="3456432"/>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25" name="TextBox 24"/>
          <p:cNvSpPr txBox="1"/>
          <p:nvPr/>
        </p:nvSpPr>
        <p:spPr>
          <a:xfrm>
            <a:off x="7040880" y="3456432"/>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FFFFFF"/>
                </a:solidFill>
                <a:latin typeface="Calibri"/>
              </a:rPr>
              <a:t>Extract</a:t>
            </a:r>
          </a:p>
        </p:txBody>
      </p:sp>
      <p:sp>
        <p:nvSpPr>
          <p:cNvPr id="26" name="TextBox 25"/>
          <p:cNvSpPr txBox="1"/>
          <p:nvPr/>
        </p:nvSpPr>
        <p:spPr>
          <a:xfrm>
            <a:off x="8229600" y="3474720"/>
            <a:ext cx="3017520" cy="274320"/>
          </a:xfrm>
          <a:prstGeom prst="rect">
            <a:avLst/>
          </a:prstGeom>
          <a:noFill/>
        </p:spPr>
        <p:txBody>
          <a:bodyPr wrap="square" lIns="0" rIns="0" tIns="0" bIns="0" anchor="t">
            <a:spAutoFit/>
          </a:bodyPr>
          <a:lstStyle/>
          <a:p>
            <a:pPr algn="l">
              <a:lnSpc>
                <a:spcPct val="115000"/>
              </a:lnSpc>
              <a:spcAft>
                <a:spcPts val="600"/>
              </a:spcAft>
            </a:pPr>
            <a:r>
              <a:rPr sz="1050" b="0">
                <a:solidFill>
                  <a:srgbClr val="C7D2FE"/>
                </a:solidFill>
                <a:latin typeface="Calibri"/>
              </a:rPr>
              <a:t>strip reasoning blocks, fences, stray prose</a:t>
            </a:r>
          </a:p>
        </p:txBody>
      </p:sp>
      <p:sp>
        <p:nvSpPr>
          <p:cNvPr id="27" name="Oval 26"/>
          <p:cNvSpPr/>
          <p:nvPr/>
        </p:nvSpPr>
        <p:spPr>
          <a:xfrm>
            <a:off x="6629400" y="4078224"/>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28" name="TextBox 27"/>
          <p:cNvSpPr txBox="1"/>
          <p:nvPr/>
        </p:nvSpPr>
        <p:spPr>
          <a:xfrm>
            <a:off x="7040880" y="4078224"/>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FFFFFF"/>
                </a:solidFill>
                <a:latin typeface="Calibri"/>
              </a:rPr>
              <a:t>Validate</a:t>
            </a:r>
          </a:p>
        </p:txBody>
      </p:sp>
      <p:sp>
        <p:nvSpPr>
          <p:cNvPr id="29" name="TextBox 28"/>
          <p:cNvSpPr txBox="1"/>
          <p:nvPr/>
        </p:nvSpPr>
        <p:spPr>
          <a:xfrm>
            <a:off x="8229600" y="4096511"/>
            <a:ext cx="3017520" cy="274320"/>
          </a:xfrm>
          <a:prstGeom prst="rect">
            <a:avLst/>
          </a:prstGeom>
          <a:noFill/>
        </p:spPr>
        <p:txBody>
          <a:bodyPr wrap="square" lIns="0" rIns="0" tIns="0" bIns="0" anchor="t">
            <a:spAutoFit/>
          </a:bodyPr>
          <a:lstStyle/>
          <a:p>
            <a:pPr algn="l">
              <a:lnSpc>
                <a:spcPct val="115000"/>
              </a:lnSpc>
              <a:spcAft>
                <a:spcPts val="600"/>
              </a:spcAft>
            </a:pPr>
            <a:r>
              <a:rPr sz="1050" b="0">
                <a:solidFill>
                  <a:srgbClr val="C7D2FE"/>
                </a:solidFill>
                <a:latin typeface="Calibri"/>
              </a:rPr>
              <a:t>Zod - the app's types come from the same schema</a:t>
            </a:r>
          </a:p>
        </p:txBody>
      </p:sp>
      <p:sp>
        <p:nvSpPr>
          <p:cNvPr id="30" name="Oval 29"/>
          <p:cNvSpPr/>
          <p:nvPr/>
        </p:nvSpPr>
        <p:spPr>
          <a:xfrm>
            <a:off x="6629400" y="4700016"/>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31" name="TextBox 30"/>
          <p:cNvSpPr txBox="1"/>
          <p:nvPr/>
        </p:nvSpPr>
        <p:spPr>
          <a:xfrm>
            <a:off x="7040880" y="4700016"/>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FFFFFF"/>
                </a:solidFill>
                <a:latin typeface="Calibri"/>
              </a:rPr>
              <a:t>Repair</a:t>
            </a:r>
          </a:p>
        </p:txBody>
      </p:sp>
      <p:sp>
        <p:nvSpPr>
          <p:cNvPr id="32" name="TextBox 31"/>
          <p:cNvSpPr txBox="1"/>
          <p:nvPr/>
        </p:nvSpPr>
        <p:spPr>
          <a:xfrm>
            <a:off x="8229600" y="4718304"/>
            <a:ext cx="3017520" cy="274320"/>
          </a:xfrm>
          <a:prstGeom prst="rect">
            <a:avLst/>
          </a:prstGeom>
          <a:noFill/>
        </p:spPr>
        <p:txBody>
          <a:bodyPr wrap="square" lIns="0" rIns="0" tIns="0" bIns="0" anchor="t">
            <a:spAutoFit/>
          </a:bodyPr>
          <a:lstStyle/>
          <a:p>
            <a:pPr algn="l">
              <a:lnSpc>
                <a:spcPct val="115000"/>
              </a:lnSpc>
              <a:spcAft>
                <a:spcPts val="600"/>
              </a:spcAft>
            </a:pPr>
            <a:r>
              <a:rPr sz="1050" b="0">
                <a:solidFill>
                  <a:srgbClr val="C7D2FE"/>
                </a:solidFill>
                <a:latin typeface="Calibri"/>
              </a:rPr>
              <a:t>hand the problem back to the model, up to twice</a:t>
            </a:r>
          </a:p>
        </p:txBody>
      </p:sp>
      <p:sp>
        <p:nvSpPr>
          <p:cNvPr id="33" name="Oval 32"/>
          <p:cNvSpPr/>
          <p:nvPr/>
        </p:nvSpPr>
        <p:spPr>
          <a:xfrm>
            <a:off x="6629400" y="5321808"/>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34" name="TextBox 33"/>
          <p:cNvSpPr txBox="1"/>
          <p:nvPr/>
        </p:nvSpPr>
        <p:spPr>
          <a:xfrm>
            <a:off x="7040880" y="5321808"/>
            <a:ext cx="1828800" cy="274320"/>
          </a:xfrm>
          <a:prstGeom prst="rect">
            <a:avLst/>
          </a:prstGeom>
          <a:noFill/>
        </p:spPr>
        <p:txBody>
          <a:bodyPr wrap="square" lIns="0" rIns="0" tIns="0" bIns="0" anchor="t">
            <a:spAutoFit/>
          </a:bodyPr>
          <a:lstStyle/>
          <a:p>
            <a:pPr algn="l">
              <a:lnSpc>
                <a:spcPct val="115000"/>
              </a:lnSpc>
              <a:spcAft>
                <a:spcPts val="600"/>
              </a:spcAft>
            </a:pPr>
            <a:r>
              <a:rPr sz="1250" b="1">
                <a:solidFill>
                  <a:srgbClr val="FFFFFF"/>
                </a:solidFill>
                <a:latin typeface="Calibri"/>
              </a:rPr>
              <a:t>Persist</a:t>
            </a:r>
          </a:p>
        </p:txBody>
      </p:sp>
      <p:sp>
        <p:nvSpPr>
          <p:cNvPr id="35" name="TextBox 34"/>
          <p:cNvSpPr txBox="1"/>
          <p:nvPr/>
        </p:nvSpPr>
        <p:spPr>
          <a:xfrm>
            <a:off x="8229600" y="5340096"/>
            <a:ext cx="3017520" cy="274320"/>
          </a:xfrm>
          <a:prstGeom prst="rect">
            <a:avLst/>
          </a:prstGeom>
          <a:noFill/>
        </p:spPr>
        <p:txBody>
          <a:bodyPr wrap="square" lIns="0" rIns="0" tIns="0" bIns="0" anchor="t">
            <a:spAutoFit/>
          </a:bodyPr>
          <a:lstStyle/>
          <a:p>
            <a:pPr algn="l">
              <a:lnSpc>
                <a:spcPct val="115000"/>
              </a:lnSpc>
              <a:spcAft>
                <a:spcPts val="600"/>
              </a:spcAft>
            </a:pPr>
            <a:r>
              <a:rPr sz="1050" b="0">
                <a:solidFill>
                  <a:srgbClr val="C7D2FE"/>
                </a:solidFill>
                <a:latin typeface="Calibri"/>
              </a:rPr>
              <a:t>saved to the track, and feeds the next prompt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FFFFFF"/>
                </a:solidFill>
                <a:latin typeface="Cambria"/>
              </a:rPr>
              <a:t>What Claude gives us</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C7D2FE"/>
                </a:solidFill>
                <a:latin typeface="Calibri"/>
              </a:rPr>
              <a:t>The deepest integration, and the features the app is built around</a:t>
            </a:r>
          </a:p>
        </p:txBody>
      </p:sp>
      <p:sp>
        <p:nvSpPr>
          <p:cNvPr id="5" name="Rounded Rectangle 4"/>
          <p:cNvSpPr/>
          <p:nvPr/>
        </p:nvSpPr>
        <p:spPr>
          <a:xfrm>
            <a:off x="73152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Structured outputs</a:t>
            </a:r>
          </a:p>
        </p:txBody>
      </p:sp>
      <p:sp>
        <p:nvSpPr>
          <p:cNvPr id="7" name="TextBox 6"/>
          <p:cNvSpPr txBox="1"/>
          <p:nvPr/>
        </p:nvSpPr>
        <p:spPr>
          <a:xfrm>
            <a:off x="100584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Replies constrained to our JSON schema - no parsing guesswork</a:t>
            </a:r>
          </a:p>
        </p:txBody>
      </p:sp>
      <p:sp>
        <p:nvSpPr>
          <p:cNvPr id="8" name="Rounded Rectangle 7"/>
          <p:cNvSpPr/>
          <p:nvPr/>
        </p:nvSpPr>
        <p:spPr>
          <a:xfrm>
            <a:off x="443484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09159"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Adaptive thinking</a:t>
            </a:r>
          </a:p>
        </p:txBody>
      </p:sp>
      <p:sp>
        <p:nvSpPr>
          <p:cNvPr id="10" name="TextBox 9"/>
          <p:cNvSpPr txBox="1"/>
          <p:nvPr/>
        </p:nvSpPr>
        <p:spPr>
          <a:xfrm>
            <a:off x="4709159"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Claude decides when to reason; no fixed thinking budget to pay for</a:t>
            </a:r>
          </a:p>
        </p:txBody>
      </p:sp>
      <p:sp>
        <p:nvSpPr>
          <p:cNvPr id="11" name="Rounded Rectangle 10"/>
          <p:cNvSpPr/>
          <p:nvPr/>
        </p:nvSpPr>
        <p:spPr>
          <a:xfrm>
            <a:off x="813816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Effort control</a:t>
            </a:r>
          </a:p>
        </p:txBody>
      </p:sp>
      <p:sp>
        <p:nvSpPr>
          <p:cNvPr id="13" name="TextBox 12"/>
          <p:cNvSpPr txBox="1"/>
          <p:nvPr/>
        </p:nvSpPr>
        <p:spPr>
          <a:xfrm>
            <a:off x="841248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Defaults to low to keep token use down; raise it for grading</a:t>
            </a:r>
          </a:p>
        </p:txBody>
      </p:sp>
      <p:sp>
        <p:nvSpPr>
          <p:cNvPr id="14" name="Rounded Rectangle 13"/>
          <p:cNvSpPr/>
          <p:nvPr/>
        </p:nvSpPr>
        <p:spPr>
          <a:xfrm>
            <a:off x="73152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584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Prompt caching</a:t>
            </a:r>
          </a:p>
        </p:txBody>
      </p:sp>
      <p:sp>
        <p:nvSpPr>
          <p:cNvPr id="16" name="TextBox 15"/>
          <p:cNvSpPr txBox="1"/>
          <p:nvPr/>
        </p:nvSpPr>
        <p:spPr>
          <a:xfrm>
            <a:off x="100584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The conversation is re-sent every turn - caching makes repeats cheap</a:t>
            </a:r>
          </a:p>
        </p:txBody>
      </p:sp>
      <p:sp>
        <p:nvSpPr>
          <p:cNvPr id="17" name="Rounded Rectangle 16"/>
          <p:cNvSpPr/>
          <p:nvPr/>
        </p:nvSpPr>
        <p:spPr>
          <a:xfrm>
            <a:off x="443484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709159"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Refusal handling</a:t>
            </a:r>
          </a:p>
        </p:txBody>
      </p:sp>
      <p:sp>
        <p:nvSpPr>
          <p:cNvPr id="19" name="TextBox 18"/>
          <p:cNvSpPr txBox="1"/>
          <p:nvPr/>
        </p:nvSpPr>
        <p:spPr>
          <a:xfrm>
            <a:off x="4709159"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 declined request becomes a clear message, not a crash</a:t>
            </a:r>
          </a:p>
        </p:txBody>
      </p:sp>
      <p:sp>
        <p:nvSpPr>
          <p:cNvPr id="20" name="Rounded Rectangle 19"/>
          <p:cNvSpPr/>
          <p:nvPr/>
        </p:nvSpPr>
        <p:spPr>
          <a:xfrm>
            <a:off x="813816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8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Streaming + abort</a:t>
            </a:r>
          </a:p>
        </p:txBody>
      </p:sp>
      <p:sp>
        <p:nvSpPr>
          <p:cNvPr id="22" name="TextBox 21"/>
          <p:cNvSpPr txBox="1"/>
          <p:nvPr/>
        </p:nvSpPr>
        <p:spPr>
          <a:xfrm>
            <a:off x="841248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Lessons appear word by word; Stop keeps the partial reply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It also tells you where to learn it</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8-12 real courses and materials, chosen for the learner's goal and gaps</a:t>
            </a:r>
          </a:p>
        </p:txBody>
      </p:sp>
      <p:sp>
        <p:nvSpPr>
          <p:cNvPr id="5" name="Rounded Rectangle 4"/>
          <p:cNvSpPr/>
          <p:nvPr/>
        </p:nvSpPr>
        <p:spPr>
          <a:xfrm>
            <a:off x="731520" y="22402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23682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YouTube</a:t>
            </a:r>
          </a:p>
        </p:txBody>
      </p:sp>
      <p:sp>
        <p:nvSpPr>
          <p:cNvPr id="7" name="Rounded Rectangle 6"/>
          <p:cNvSpPr/>
          <p:nvPr/>
        </p:nvSpPr>
        <p:spPr>
          <a:xfrm>
            <a:off x="2926080" y="22402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26080" y="23682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Udemy</a:t>
            </a:r>
          </a:p>
        </p:txBody>
      </p:sp>
      <p:sp>
        <p:nvSpPr>
          <p:cNvPr id="9" name="Rounded Rectangle 8"/>
          <p:cNvSpPr/>
          <p:nvPr/>
        </p:nvSpPr>
        <p:spPr>
          <a:xfrm>
            <a:off x="5120640" y="22402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20640" y="23682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Coursera</a:t>
            </a:r>
          </a:p>
        </p:txBody>
      </p:sp>
      <p:sp>
        <p:nvSpPr>
          <p:cNvPr id="11" name="Rounded Rectangle 10"/>
          <p:cNvSpPr/>
          <p:nvPr/>
        </p:nvSpPr>
        <p:spPr>
          <a:xfrm>
            <a:off x="7315199" y="22402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199" y="23682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edX</a:t>
            </a:r>
          </a:p>
        </p:txBody>
      </p:sp>
      <p:sp>
        <p:nvSpPr>
          <p:cNvPr id="13" name="Rounded Rectangle 12"/>
          <p:cNvSpPr/>
          <p:nvPr/>
        </p:nvSpPr>
        <p:spPr>
          <a:xfrm>
            <a:off x="9509760" y="22402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0" y="23682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freeCodeCamp</a:t>
            </a:r>
          </a:p>
        </p:txBody>
      </p:sp>
      <p:sp>
        <p:nvSpPr>
          <p:cNvPr id="15" name="Rounded Rectangle 14"/>
          <p:cNvSpPr/>
          <p:nvPr/>
        </p:nvSpPr>
        <p:spPr>
          <a:xfrm>
            <a:off x="731520" y="29260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0540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Pluralsight</a:t>
            </a:r>
          </a:p>
        </p:txBody>
      </p:sp>
      <p:sp>
        <p:nvSpPr>
          <p:cNvPr id="17" name="Rounded Rectangle 16"/>
          <p:cNvSpPr/>
          <p:nvPr/>
        </p:nvSpPr>
        <p:spPr>
          <a:xfrm>
            <a:off x="2926080" y="29260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26080" y="30540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LinkedIn Learning</a:t>
            </a:r>
          </a:p>
        </p:txBody>
      </p:sp>
      <p:sp>
        <p:nvSpPr>
          <p:cNvPr id="19" name="Rounded Rectangle 18"/>
          <p:cNvSpPr/>
          <p:nvPr/>
        </p:nvSpPr>
        <p:spPr>
          <a:xfrm>
            <a:off x="5120640" y="29260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20640" y="30540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Real Python</a:t>
            </a:r>
          </a:p>
        </p:txBody>
      </p:sp>
      <p:sp>
        <p:nvSpPr>
          <p:cNvPr id="21" name="Rounded Rectangle 20"/>
          <p:cNvSpPr/>
          <p:nvPr/>
        </p:nvSpPr>
        <p:spPr>
          <a:xfrm>
            <a:off x="7315199" y="29260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15199" y="30540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Official docs</a:t>
            </a:r>
          </a:p>
        </p:txBody>
      </p:sp>
      <p:sp>
        <p:nvSpPr>
          <p:cNvPr id="23" name="Rounded Rectangle 22"/>
          <p:cNvSpPr/>
          <p:nvPr/>
        </p:nvSpPr>
        <p:spPr>
          <a:xfrm>
            <a:off x="9509760" y="2926080"/>
            <a:ext cx="2011680" cy="50292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509760" y="3054096"/>
            <a:ext cx="2011680" cy="274320"/>
          </a:xfrm>
          <a:prstGeom prst="rect">
            <a:avLst/>
          </a:prstGeom>
          <a:noFill/>
        </p:spPr>
        <p:txBody>
          <a:bodyPr wrap="square" lIns="0" rIns="0" tIns="0" bIns="0" anchor="t">
            <a:spAutoFit/>
          </a:bodyPr>
          <a:lstStyle/>
          <a:p>
            <a:pPr algn="ctr">
              <a:lnSpc>
                <a:spcPct val="115000"/>
              </a:lnSpc>
              <a:spcAft>
                <a:spcPts val="600"/>
              </a:spcAft>
            </a:pPr>
            <a:r>
              <a:rPr sz="1200" b="1">
                <a:solidFill>
                  <a:srgbClr val="1E1B4B"/>
                </a:solidFill>
                <a:latin typeface="Calibri"/>
              </a:rPr>
              <a:t>Exercism</a:t>
            </a:r>
          </a:p>
        </p:txBody>
      </p:sp>
      <p:sp>
        <p:nvSpPr>
          <p:cNvPr id="25" name="Rounded Rectangle 24"/>
          <p:cNvSpPr/>
          <p:nvPr/>
        </p:nvSpPr>
        <p:spPr>
          <a:xfrm>
            <a:off x="731520" y="3931920"/>
            <a:ext cx="5257800" cy="2011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4206240"/>
            <a:ext cx="457200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Every card tells you</a:t>
            </a:r>
          </a:p>
        </p:txBody>
      </p:sp>
      <p:sp>
        <p:nvSpPr>
          <p:cNvPr id="27" name="TextBox 26"/>
          <p:cNvSpPr txBox="1"/>
          <p:nvPr/>
        </p:nvSpPr>
        <p:spPr>
          <a:xfrm>
            <a:off x="1051560" y="4663440"/>
            <a:ext cx="4663440" cy="1097280"/>
          </a:xfrm>
          <a:prstGeom prst="rect">
            <a:avLst/>
          </a:prstGeom>
          <a:noFill/>
        </p:spPr>
        <p:txBody>
          <a:bodyPr wrap="square" lIns="0" rIns="0" tIns="0" bIns="0" anchor="t">
            <a:spAutoFit/>
          </a:bodyPr>
          <a:lstStyle/>
          <a:p>
            <a:pPr algn="l">
              <a:lnSpc>
                <a:spcPct val="115000"/>
              </a:lnSpc>
              <a:spcAft>
                <a:spcPts val="500"/>
              </a:spcAft>
            </a:pPr>
            <a:r>
              <a:rPr sz="1250" b="0">
                <a:solidFill>
                  <a:srgbClr val="475569"/>
                </a:solidFill>
                <a:latin typeface="Calibri"/>
              </a:rPr>
              <a:t>Platform, cost (free / free to audit / paid), level and hours</a:t>
            </a:r>
          </a:p>
          <a:p>
            <a:pPr algn="l">
              <a:lnSpc>
                <a:spcPct val="115000"/>
              </a:lnSpc>
              <a:spcAft>
                <a:spcPts val="500"/>
              </a:spcAft>
            </a:pPr>
            <a:r>
              <a:rPr sz="1250" b="0">
                <a:solidFill>
                  <a:srgbClr val="475569"/>
                </a:solidFill>
                <a:latin typeface="Calibri"/>
              </a:rPr>
              <a:t>Why it suits this learner and which gaps it covers</a:t>
            </a:r>
          </a:p>
          <a:p>
            <a:pPr algn="l">
              <a:lnSpc>
                <a:spcPct val="115000"/>
              </a:lnSpc>
              <a:spcAft>
                <a:spcPts val="500"/>
              </a:spcAft>
            </a:pPr>
            <a:r>
              <a:rPr sz="1250" b="0">
                <a:solidFill>
                  <a:srgbClr val="475569"/>
                </a:solidFill>
                <a:latin typeface="Calibri"/>
              </a:rPr>
              <a:t>A Top pick badge for where to start</a:t>
            </a:r>
          </a:p>
        </p:txBody>
      </p:sp>
      <p:sp>
        <p:nvSpPr>
          <p:cNvPr id="28" name="Rounded Rectangle 27"/>
          <p:cNvSpPr/>
          <p:nvPr/>
        </p:nvSpPr>
        <p:spPr>
          <a:xfrm>
            <a:off x="6172200" y="3931920"/>
            <a:ext cx="5257800" cy="2011680"/>
          </a:xfrm>
          <a:prstGeom prst="roundRect">
            <a:avLst>
              <a:gd name="adj" fmla="val 8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92240" y="4206240"/>
            <a:ext cx="4572000" cy="365760"/>
          </a:xfrm>
          <a:prstGeom prst="rect">
            <a:avLst/>
          </a:prstGeom>
          <a:noFill/>
        </p:spPr>
        <p:txBody>
          <a:bodyPr wrap="square" lIns="0" rIns="0" tIns="0" bIns="0" anchor="t">
            <a:spAutoFit/>
          </a:bodyPr>
          <a:lstStyle/>
          <a:p>
            <a:pPr algn="l">
              <a:lnSpc>
                <a:spcPct val="115000"/>
              </a:lnSpc>
              <a:spcAft>
                <a:spcPts val="600"/>
              </a:spcAft>
            </a:pPr>
            <a:r>
              <a:rPr sz="1600" b="1">
                <a:solidFill>
                  <a:srgbClr val="FFFFFF"/>
                </a:solidFill>
                <a:latin typeface="Cambria"/>
              </a:rPr>
              <a:t>No broken links, by design</a:t>
            </a:r>
          </a:p>
        </p:txBody>
      </p:sp>
      <p:sp>
        <p:nvSpPr>
          <p:cNvPr id="30" name="TextBox 29"/>
          <p:cNvSpPr txBox="1"/>
          <p:nvPr/>
        </p:nvSpPr>
        <p:spPr>
          <a:xfrm>
            <a:off x="6492240" y="4663440"/>
            <a:ext cx="4663440" cy="1188720"/>
          </a:xfrm>
          <a:prstGeom prst="rect">
            <a:avLst/>
          </a:prstGeom>
          <a:noFill/>
        </p:spPr>
        <p:txBody>
          <a:bodyPr wrap="square" lIns="0" rIns="0" tIns="0" bIns="0" anchor="t">
            <a:spAutoFit/>
          </a:bodyPr>
          <a:lstStyle/>
          <a:p>
            <a:pPr algn="l">
              <a:lnSpc>
                <a:spcPct val="115000"/>
              </a:lnSpc>
              <a:spcAft>
                <a:spcPts val="500"/>
              </a:spcAft>
            </a:pPr>
            <a:r>
              <a:rPr sz="1250" b="0">
                <a:solidFill>
                  <a:srgbClr val="C7D2FE"/>
                </a:solidFill>
                <a:latin typeface="Calibri"/>
              </a:rPr>
              <a:t>AI models invent course URLs that 404.</a:t>
            </a:r>
          </a:p>
          <a:p>
            <a:pPr algn="l">
              <a:lnSpc>
                <a:spcPct val="115000"/>
              </a:lnSpc>
              <a:spcAft>
                <a:spcPts val="500"/>
              </a:spcAft>
            </a:pPr>
            <a:r>
              <a:rPr sz="1250" b="0">
                <a:solidFill>
                  <a:srgbClr val="C7D2FE"/>
                </a:solidFill>
                <a:latin typeface="Calibri"/>
              </a:rPr>
              <a:t>So the button runs a search for the exact title on that platform.</a:t>
            </a:r>
          </a:p>
          <a:p>
            <a:pPr algn="l">
              <a:lnSpc>
                <a:spcPct val="115000"/>
              </a:lnSpc>
              <a:spcAft>
                <a:spcPts val="500"/>
              </a:spcAft>
            </a:pPr>
            <a:r>
              <a:rPr sz="1250" b="0">
                <a:solidFill>
                  <a:srgbClr val="C7D2FE"/>
                </a:solidFill>
                <a:latin typeface="Calibri"/>
              </a:rPr>
              <a:t>A direct link shows only if it is https and on that platform's domain.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Works with any major AI provider</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Pick one in the app, switch any time - your key stays encrypted on your device</a:t>
            </a:r>
          </a:p>
        </p:txBody>
      </p:sp>
      <p:sp>
        <p:nvSpPr>
          <p:cNvPr id="5" name="Rounded Rectangle 4"/>
          <p:cNvSpPr/>
          <p:nvPr/>
        </p:nvSpPr>
        <p:spPr>
          <a:xfrm>
            <a:off x="731520" y="2194560"/>
            <a:ext cx="3383280" cy="3200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731520" y="2194560"/>
            <a:ext cx="3383280" cy="640080"/>
          </a:xfrm>
          <a:prstGeom prst="roundRect">
            <a:avLst>
              <a:gd name="adj" fmla="val 2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377440"/>
            <a:ext cx="2926080" cy="36576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Free tier / credits</a:t>
            </a:r>
          </a:p>
        </p:txBody>
      </p:sp>
      <p:sp>
        <p:nvSpPr>
          <p:cNvPr id="8" name="TextBox 7"/>
          <p:cNvSpPr txBox="1"/>
          <p:nvPr/>
        </p:nvSpPr>
        <p:spPr>
          <a:xfrm>
            <a:off x="1005840" y="3063240"/>
            <a:ext cx="2926080" cy="2103120"/>
          </a:xfrm>
          <a:prstGeom prst="rect">
            <a:avLst/>
          </a:prstGeom>
          <a:noFill/>
        </p:spPr>
        <p:txBody>
          <a:bodyPr wrap="square" lIns="0" rIns="0" tIns="0" bIns="0" anchor="t">
            <a:spAutoFit/>
          </a:bodyPr>
          <a:lstStyle/>
          <a:p>
            <a:pPr algn="l">
              <a:lnSpc>
                <a:spcPct val="115000"/>
              </a:lnSpc>
              <a:spcAft>
                <a:spcPts val="700"/>
              </a:spcAft>
            </a:pPr>
            <a:r>
              <a:rPr sz="1250" b="0">
                <a:solidFill>
                  <a:srgbClr val="475569"/>
                </a:solidFill>
                <a:latin typeface="Calibri"/>
              </a:rPr>
              <a:t>Google Gemini (default)</a:t>
            </a:r>
          </a:p>
          <a:p>
            <a:pPr algn="l">
              <a:lnSpc>
                <a:spcPct val="115000"/>
              </a:lnSpc>
              <a:spcAft>
                <a:spcPts val="700"/>
              </a:spcAft>
            </a:pPr>
            <a:r>
              <a:rPr sz="1250" b="0">
                <a:solidFill>
                  <a:srgbClr val="475569"/>
                </a:solidFill>
                <a:latin typeface="Calibri"/>
              </a:rPr>
              <a:t>Groq</a:t>
            </a:r>
          </a:p>
          <a:p>
            <a:pPr algn="l">
              <a:lnSpc>
                <a:spcPct val="115000"/>
              </a:lnSpc>
              <a:spcAft>
                <a:spcPts val="700"/>
              </a:spcAft>
            </a:pPr>
            <a:r>
              <a:rPr sz="1250" b="0">
                <a:solidFill>
                  <a:srgbClr val="475569"/>
                </a:solidFill>
                <a:latin typeface="Calibri"/>
              </a:rPr>
              <a:t>OpenRouter</a:t>
            </a:r>
          </a:p>
          <a:p>
            <a:pPr algn="l">
              <a:lnSpc>
                <a:spcPct val="115000"/>
              </a:lnSpc>
              <a:spcAft>
                <a:spcPts val="700"/>
              </a:spcAft>
            </a:pPr>
            <a:r>
              <a:rPr sz="1250" b="0">
                <a:solidFill>
                  <a:srgbClr val="475569"/>
                </a:solidFill>
                <a:latin typeface="Calibri"/>
              </a:rPr>
              <a:t>Mistral</a:t>
            </a:r>
          </a:p>
          <a:p>
            <a:pPr algn="l">
              <a:lnSpc>
                <a:spcPct val="115000"/>
              </a:lnSpc>
              <a:spcAft>
                <a:spcPts val="700"/>
              </a:spcAft>
            </a:pPr>
            <a:r>
              <a:rPr sz="1250" b="0">
                <a:solidFill>
                  <a:srgbClr val="475569"/>
                </a:solidFill>
                <a:latin typeface="Calibri"/>
              </a:rPr>
              <a:t>Cerebras</a:t>
            </a:r>
          </a:p>
          <a:p>
            <a:pPr algn="l">
              <a:lnSpc>
                <a:spcPct val="115000"/>
              </a:lnSpc>
              <a:spcAft>
                <a:spcPts val="700"/>
              </a:spcAft>
            </a:pPr>
            <a:r>
              <a:rPr sz="1250" b="0">
                <a:solidFill>
                  <a:srgbClr val="475569"/>
                </a:solidFill>
                <a:latin typeface="Calibri"/>
              </a:rPr>
              <a:t>Hugging Face</a:t>
            </a:r>
          </a:p>
          <a:p>
            <a:pPr algn="l">
              <a:lnSpc>
                <a:spcPct val="115000"/>
              </a:lnSpc>
              <a:spcAft>
                <a:spcPts val="700"/>
              </a:spcAft>
            </a:pPr>
            <a:r>
              <a:rPr sz="1250" b="0">
                <a:solidFill>
                  <a:srgbClr val="475569"/>
                </a:solidFill>
                <a:latin typeface="Calibri"/>
              </a:rPr>
              <a:t>Cohere</a:t>
            </a:r>
          </a:p>
        </p:txBody>
      </p:sp>
      <p:sp>
        <p:nvSpPr>
          <p:cNvPr id="9" name="Rounded Rectangle 8"/>
          <p:cNvSpPr/>
          <p:nvPr/>
        </p:nvSpPr>
        <p:spPr>
          <a:xfrm>
            <a:off x="4434840" y="2194560"/>
            <a:ext cx="3383280" cy="3200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434840" y="2194560"/>
            <a:ext cx="3383280" cy="640080"/>
          </a:xfrm>
          <a:prstGeom prst="roundRect">
            <a:avLst>
              <a:gd name="adj" fmla="val 20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09159" y="2377440"/>
            <a:ext cx="2926080" cy="36576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Paid</a:t>
            </a:r>
          </a:p>
        </p:txBody>
      </p:sp>
      <p:sp>
        <p:nvSpPr>
          <p:cNvPr id="12" name="TextBox 11"/>
          <p:cNvSpPr txBox="1"/>
          <p:nvPr/>
        </p:nvSpPr>
        <p:spPr>
          <a:xfrm>
            <a:off x="4709159" y="3063240"/>
            <a:ext cx="2926080" cy="2103120"/>
          </a:xfrm>
          <a:prstGeom prst="rect">
            <a:avLst/>
          </a:prstGeom>
          <a:noFill/>
        </p:spPr>
        <p:txBody>
          <a:bodyPr wrap="square" lIns="0" rIns="0" tIns="0" bIns="0" anchor="t">
            <a:spAutoFit/>
          </a:bodyPr>
          <a:lstStyle/>
          <a:p>
            <a:pPr algn="l">
              <a:lnSpc>
                <a:spcPct val="115000"/>
              </a:lnSpc>
              <a:spcAft>
                <a:spcPts val="700"/>
              </a:spcAft>
            </a:pPr>
            <a:r>
              <a:rPr sz="1250" b="0">
                <a:solidFill>
                  <a:srgbClr val="475569"/>
                </a:solidFill>
                <a:latin typeface="Calibri"/>
              </a:rPr>
              <a:t>Anthropic Claude</a:t>
            </a:r>
          </a:p>
          <a:p>
            <a:pPr algn="l">
              <a:lnSpc>
                <a:spcPct val="115000"/>
              </a:lnSpc>
              <a:spcAft>
                <a:spcPts val="700"/>
              </a:spcAft>
            </a:pPr>
            <a:r>
              <a:rPr sz="1250" b="0">
                <a:solidFill>
                  <a:srgbClr val="475569"/>
                </a:solidFill>
                <a:latin typeface="Calibri"/>
              </a:rPr>
              <a:t>OpenAI</a:t>
            </a:r>
          </a:p>
          <a:p>
            <a:pPr algn="l">
              <a:lnSpc>
                <a:spcPct val="115000"/>
              </a:lnSpc>
              <a:spcAft>
                <a:spcPts val="700"/>
              </a:spcAft>
            </a:pPr>
            <a:r>
              <a:rPr sz="1250" b="0">
                <a:solidFill>
                  <a:srgbClr val="475569"/>
                </a:solidFill>
                <a:latin typeface="Calibri"/>
              </a:rPr>
              <a:t>DeepSeek</a:t>
            </a:r>
          </a:p>
          <a:p>
            <a:pPr algn="l">
              <a:lnSpc>
                <a:spcPct val="115000"/>
              </a:lnSpc>
              <a:spcAft>
                <a:spcPts val="700"/>
              </a:spcAft>
            </a:pPr>
            <a:r>
              <a:rPr sz="1250" b="0">
                <a:solidFill>
                  <a:srgbClr val="475569"/>
                </a:solidFill>
                <a:latin typeface="Calibri"/>
              </a:rPr>
              <a:t>xAI Grok</a:t>
            </a:r>
          </a:p>
        </p:txBody>
      </p:sp>
      <p:sp>
        <p:nvSpPr>
          <p:cNvPr id="13" name="Rounded Rectangle 12"/>
          <p:cNvSpPr/>
          <p:nvPr/>
        </p:nvSpPr>
        <p:spPr>
          <a:xfrm>
            <a:off x="8138160" y="2194560"/>
            <a:ext cx="3383280" cy="32004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138160" y="2194560"/>
            <a:ext cx="3383280" cy="640080"/>
          </a:xfrm>
          <a:prstGeom prst="roundRect">
            <a:avLst>
              <a:gd name="adj" fmla="val 2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0" y="2377440"/>
            <a:ext cx="2926080" cy="36576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Custom</a:t>
            </a:r>
          </a:p>
        </p:txBody>
      </p:sp>
      <p:sp>
        <p:nvSpPr>
          <p:cNvPr id="16" name="TextBox 15"/>
          <p:cNvSpPr txBox="1"/>
          <p:nvPr/>
        </p:nvSpPr>
        <p:spPr>
          <a:xfrm>
            <a:off x="8412480" y="3063240"/>
            <a:ext cx="2926080" cy="2103120"/>
          </a:xfrm>
          <a:prstGeom prst="rect">
            <a:avLst/>
          </a:prstGeom>
          <a:noFill/>
        </p:spPr>
        <p:txBody>
          <a:bodyPr wrap="square" lIns="0" rIns="0" tIns="0" bIns="0" anchor="t">
            <a:spAutoFit/>
          </a:bodyPr>
          <a:lstStyle/>
          <a:p>
            <a:pPr algn="l">
              <a:lnSpc>
                <a:spcPct val="115000"/>
              </a:lnSpc>
              <a:spcAft>
                <a:spcPts val="700"/>
              </a:spcAft>
            </a:pPr>
            <a:r>
              <a:rPr sz="1250" b="0">
                <a:solidFill>
                  <a:srgbClr val="475569"/>
                </a:solidFill>
                <a:latin typeface="Calibri"/>
              </a:rPr>
              <a:t>Any OpenAI-compatible endpoint</a:t>
            </a:r>
          </a:p>
          <a:p>
            <a:pPr algn="l">
              <a:lnSpc>
                <a:spcPct val="115000"/>
              </a:lnSpc>
              <a:spcAft>
                <a:spcPts val="700"/>
              </a:spcAft>
            </a:pPr>
            <a:r>
              <a:rPr sz="1250" b="0">
                <a:solidFill>
                  <a:srgbClr val="475569"/>
                </a:solidFill>
                <a:latin typeface="Calibri"/>
              </a:rPr>
              <a:t>e.g. a company AI gateway</a:t>
            </a:r>
          </a:p>
          <a:p>
            <a:pPr algn="l">
              <a:lnSpc>
                <a:spcPct val="115000"/>
              </a:lnSpc>
              <a:spcAft>
                <a:spcPts val="700"/>
              </a:spcAft>
            </a:pPr>
            <a:r>
              <a:rPr sz="1250" b="0">
                <a:solidFill>
                  <a:srgbClr val="475569"/>
                </a:solidFill>
                <a:latin typeface="Calibri"/>
              </a:rPr>
              <a:t>You set URL, model and key</a:t>
            </a:r>
          </a:p>
        </p:txBody>
      </p:sp>
      <p:sp>
        <p:nvSpPr>
          <p:cNvPr id="17" name="TextBox 16"/>
          <p:cNvSpPr txBox="1"/>
          <p:nvPr/>
        </p:nvSpPr>
        <p:spPr>
          <a:xfrm>
            <a:off x="731520" y="5623560"/>
            <a:ext cx="10789920" cy="731520"/>
          </a:xfrm>
          <a:prstGeom prst="rect">
            <a:avLst/>
          </a:prstGeom>
          <a:noFill/>
        </p:spPr>
        <p:txBody>
          <a:bodyPr wrap="square" lIns="0" rIns="0" tIns="0" bIns="0" anchor="t">
            <a:spAutoFit/>
          </a:bodyPr>
          <a:lstStyle/>
          <a:p>
            <a:pPr algn="l">
              <a:lnSpc>
                <a:spcPct val="115000"/>
              </a:lnSpc>
              <a:spcAft>
                <a:spcPts val="400"/>
              </a:spcAft>
            </a:pPr>
            <a:r>
              <a:rPr sz="1300" b="0">
                <a:solidFill>
                  <a:srgbClr val="0F172A"/>
                </a:solidFill>
                <a:latin typeface="Calibri"/>
              </a:rPr>
              <a:t>One codebase: Claude uses the official SDK, everyone else speaks the OpenAI-compatible API.</a:t>
            </a:r>
          </a:p>
          <a:p>
            <a:pPr algn="l">
              <a:lnSpc>
                <a:spcPct val="115000"/>
              </a:lnSpc>
              <a:spcAft>
                <a:spcPts val="400"/>
              </a:spcAft>
            </a:pPr>
            <a:r>
              <a:rPr sz="1300" b="0">
                <a:solidFill>
                  <a:srgbClr val="0F172A"/>
                </a:solidFill>
                <a:latin typeface="Calibri"/>
              </a:rPr>
              <a:t>Adding a new provider is a single entry in a catalog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FFFFFF"/>
                </a:solidFill>
                <a:latin typeface="Cambria"/>
              </a:rPr>
              <a:t>Making small models behave</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C7D2FE"/>
                </a:solidFill>
                <a:latin typeface="Calibri"/>
              </a:rPr>
              <a:t>Free models are cheap but sloppy - five safeguards keep the app usable</a:t>
            </a:r>
          </a:p>
        </p:txBody>
      </p:sp>
      <p:sp>
        <p:nvSpPr>
          <p:cNvPr id="5" name="Rounded Rectangle 4"/>
          <p:cNvSpPr/>
          <p:nvPr/>
        </p:nvSpPr>
        <p:spPr>
          <a:xfrm>
            <a:off x="73152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Schema-enforced replies</a:t>
            </a:r>
          </a:p>
        </p:txBody>
      </p:sp>
      <p:sp>
        <p:nvSpPr>
          <p:cNvPr id="7" name="TextBox 6"/>
          <p:cNvSpPr txBox="1"/>
          <p:nvPr/>
        </p:nvSpPr>
        <p:spPr>
          <a:xfrm>
            <a:off x="100584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Every AI answer must match a Zod schema, enforced by the API where supported.</a:t>
            </a:r>
          </a:p>
        </p:txBody>
      </p:sp>
      <p:sp>
        <p:nvSpPr>
          <p:cNvPr id="8" name="Rounded Rectangle 7"/>
          <p:cNvSpPr/>
          <p:nvPr/>
        </p:nvSpPr>
        <p:spPr>
          <a:xfrm>
            <a:off x="443484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09159"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Automatic simplification</a:t>
            </a:r>
          </a:p>
        </p:txBody>
      </p:sp>
      <p:sp>
        <p:nvSpPr>
          <p:cNvPr id="10" name="TextBox 9"/>
          <p:cNvSpPr txBox="1"/>
          <p:nvPr/>
        </p:nvSpPr>
        <p:spPr>
          <a:xfrm>
            <a:off x="4709159"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 rejected setting is retried in a simpler form, and what worked is remembered.</a:t>
            </a:r>
          </a:p>
        </p:txBody>
      </p:sp>
      <p:sp>
        <p:nvSpPr>
          <p:cNvPr id="11" name="Rounded Rectangle 10"/>
          <p:cNvSpPr/>
          <p:nvPr/>
        </p:nvSpPr>
        <p:spPr>
          <a:xfrm>
            <a:off x="813816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Repair loop</a:t>
            </a:r>
          </a:p>
        </p:txBody>
      </p:sp>
      <p:sp>
        <p:nvSpPr>
          <p:cNvPr id="13" name="TextBox 12"/>
          <p:cNvSpPr txBox="1"/>
          <p:nvPr/>
        </p:nvSpPr>
        <p:spPr>
          <a:xfrm>
            <a:off x="841248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 malformed reply is sent back with the problem described, up to twice.</a:t>
            </a:r>
          </a:p>
        </p:txBody>
      </p:sp>
      <p:sp>
        <p:nvSpPr>
          <p:cNvPr id="14" name="Rounded Rectangle 13"/>
          <p:cNvSpPr/>
          <p:nvPr/>
        </p:nvSpPr>
        <p:spPr>
          <a:xfrm>
            <a:off x="73152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584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Reasoning stripped</a:t>
            </a:r>
          </a:p>
        </p:txBody>
      </p:sp>
      <p:sp>
        <p:nvSpPr>
          <p:cNvPr id="16" name="TextBox 15"/>
          <p:cNvSpPr txBox="1"/>
          <p:nvPr/>
        </p:nvSpPr>
        <p:spPr>
          <a:xfrm>
            <a:off x="100584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Internal &lt;think&gt; blocks from open models never reach the learner.</a:t>
            </a:r>
          </a:p>
        </p:txBody>
      </p:sp>
      <p:sp>
        <p:nvSpPr>
          <p:cNvPr id="17" name="Rounded Rectangle 16"/>
          <p:cNvSpPr/>
          <p:nvPr/>
        </p:nvSpPr>
        <p:spPr>
          <a:xfrm>
            <a:off x="443484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709159"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One error language</a:t>
            </a:r>
          </a:p>
        </p:txBody>
      </p:sp>
      <p:sp>
        <p:nvSpPr>
          <p:cNvPr id="19" name="TextBox 18"/>
          <p:cNvSpPr txBox="1"/>
          <p:nvPr/>
        </p:nvSpPr>
        <p:spPr>
          <a:xfrm>
            <a:off x="4709159"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Auth, quota, model, network - each becomes a plain sentence plus a fix.</a:t>
            </a:r>
          </a:p>
        </p:txBody>
      </p:sp>
      <p:sp>
        <p:nvSpPr>
          <p:cNvPr id="20" name="Rounded Rectangle 19"/>
          <p:cNvSpPr/>
          <p:nvPr/>
        </p:nvSpPr>
        <p:spPr>
          <a:xfrm>
            <a:off x="813816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8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Fix it in place</a:t>
            </a:r>
          </a:p>
        </p:txBody>
      </p:sp>
      <p:sp>
        <p:nvSpPr>
          <p:cNvPr id="22" name="TextBox 21"/>
          <p:cNvSpPr txBox="1"/>
          <p:nvPr/>
        </p:nvSpPr>
        <p:spPr>
          <a:xfrm>
            <a:off x="841248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Every error offers Change AI or model, so the learner never loses their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Architecture in one picture</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No backend, no database, no account - and it installs as an app</a:t>
            </a:r>
          </a:p>
        </p:txBody>
      </p:sp>
      <p:sp>
        <p:nvSpPr>
          <p:cNvPr id="5" name="Rounded Rectangle 4"/>
          <p:cNvSpPr/>
          <p:nvPr/>
        </p:nvSpPr>
        <p:spPr>
          <a:xfrm>
            <a:off x="731520" y="2240280"/>
            <a:ext cx="6949440" cy="310896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468880"/>
            <a:ext cx="36576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The browser</a:t>
            </a:r>
          </a:p>
        </p:txBody>
      </p:sp>
      <p:sp>
        <p:nvSpPr>
          <p:cNvPr id="7" name="Rounded Rectangle 6"/>
          <p:cNvSpPr/>
          <p:nvPr/>
        </p:nvSpPr>
        <p:spPr>
          <a:xfrm>
            <a:off x="1005840" y="2971800"/>
            <a:ext cx="640080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80160" y="3063240"/>
            <a:ext cx="2194560" cy="274320"/>
          </a:xfrm>
          <a:prstGeom prst="rect">
            <a:avLst/>
          </a:prstGeom>
          <a:noFill/>
        </p:spPr>
        <p:txBody>
          <a:bodyPr wrap="square" lIns="0" rIns="0" tIns="0" bIns="0" anchor="t">
            <a:spAutoFit/>
          </a:bodyPr>
          <a:lstStyle/>
          <a:p>
            <a:pPr algn="l">
              <a:lnSpc>
                <a:spcPct val="115000"/>
              </a:lnSpc>
              <a:spcAft>
                <a:spcPts val="600"/>
              </a:spcAft>
            </a:pPr>
            <a:r>
              <a:rPr sz="1350" b="1">
                <a:solidFill>
                  <a:srgbClr val="4F46E5"/>
                </a:solidFill>
                <a:latin typeface="Calibri"/>
              </a:rPr>
              <a:t>React UI</a:t>
            </a:r>
          </a:p>
        </p:txBody>
      </p:sp>
      <p:sp>
        <p:nvSpPr>
          <p:cNvPr id="9" name="TextBox 8"/>
          <p:cNvSpPr txBox="1"/>
          <p:nvPr/>
        </p:nvSpPr>
        <p:spPr>
          <a:xfrm>
            <a:off x="3566160" y="3081528"/>
            <a:ext cx="3657600" cy="274320"/>
          </a:xfrm>
          <a:prstGeom prst="rect">
            <a:avLst/>
          </a:prstGeom>
          <a:noFill/>
        </p:spPr>
        <p:txBody>
          <a:bodyPr wrap="square" lIns="0" rIns="0" tIns="0" bIns="0" anchor="t">
            <a:spAutoFit/>
          </a:bodyPr>
          <a:lstStyle/>
          <a:p>
            <a:pPr algn="l">
              <a:lnSpc>
                <a:spcPct val="115000"/>
              </a:lnSpc>
              <a:spcAft>
                <a:spcPts val="600"/>
              </a:spcAft>
            </a:pPr>
            <a:r>
              <a:rPr sz="1200" b="0">
                <a:solidFill>
                  <a:srgbClr val="475569"/>
                </a:solidFill>
                <a:latin typeface="Calibri"/>
              </a:rPr>
              <a:t>screens, streaming chat, quizzes</a:t>
            </a:r>
          </a:p>
        </p:txBody>
      </p:sp>
      <p:sp>
        <p:nvSpPr>
          <p:cNvPr id="10" name="Rounded Rectangle 9"/>
          <p:cNvSpPr/>
          <p:nvPr/>
        </p:nvSpPr>
        <p:spPr>
          <a:xfrm>
            <a:off x="1005840" y="3749039"/>
            <a:ext cx="640080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80160" y="3840479"/>
            <a:ext cx="2194560" cy="274320"/>
          </a:xfrm>
          <a:prstGeom prst="rect">
            <a:avLst/>
          </a:prstGeom>
          <a:noFill/>
        </p:spPr>
        <p:txBody>
          <a:bodyPr wrap="square" lIns="0" rIns="0" tIns="0" bIns="0" anchor="t">
            <a:spAutoFit/>
          </a:bodyPr>
          <a:lstStyle/>
          <a:p>
            <a:pPr algn="l">
              <a:lnSpc>
                <a:spcPct val="115000"/>
              </a:lnSpc>
              <a:spcAft>
                <a:spcPts val="600"/>
              </a:spcAft>
            </a:pPr>
            <a:r>
              <a:rPr sz="1350" b="1">
                <a:solidFill>
                  <a:srgbClr val="4F46E5"/>
                </a:solidFill>
                <a:latin typeface="Calibri"/>
              </a:rPr>
              <a:t>learning.ts</a:t>
            </a:r>
          </a:p>
        </p:txBody>
      </p:sp>
      <p:sp>
        <p:nvSpPr>
          <p:cNvPr id="12" name="TextBox 11"/>
          <p:cNvSpPr txBox="1"/>
          <p:nvPr/>
        </p:nvSpPr>
        <p:spPr>
          <a:xfrm>
            <a:off x="3566160" y="3858768"/>
            <a:ext cx="3657600" cy="274320"/>
          </a:xfrm>
          <a:prstGeom prst="rect">
            <a:avLst/>
          </a:prstGeom>
          <a:noFill/>
        </p:spPr>
        <p:txBody>
          <a:bodyPr wrap="square" lIns="0" rIns="0" tIns="0" bIns="0" anchor="t">
            <a:spAutoFit/>
          </a:bodyPr>
          <a:lstStyle/>
          <a:p>
            <a:pPr algn="l">
              <a:lnSpc>
                <a:spcPct val="115000"/>
              </a:lnSpc>
              <a:spcAft>
                <a:spcPts val="600"/>
              </a:spcAft>
            </a:pPr>
            <a:r>
              <a:rPr sz="1200" b="0">
                <a:solidFill>
                  <a:srgbClr val="475569"/>
                </a:solidFill>
                <a:latin typeface="Calibri"/>
              </a:rPr>
              <a:t>the six AI tasks + prompts</a:t>
            </a:r>
          </a:p>
        </p:txBody>
      </p:sp>
      <p:sp>
        <p:nvSpPr>
          <p:cNvPr id="13" name="Rounded Rectangle 12"/>
          <p:cNvSpPr/>
          <p:nvPr/>
        </p:nvSpPr>
        <p:spPr>
          <a:xfrm>
            <a:off x="1005840" y="4526280"/>
            <a:ext cx="6400800" cy="658368"/>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80160" y="4617720"/>
            <a:ext cx="2194560" cy="274320"/>
          </a:xfrm>
          <a:prstGeom prst="rect">
            <a:avLst/>
          </a:prstGeom>
          <a:noFill/>
        </p:spPr>
        <p:txBody>
          <a:bodyPr wrap="square" lIns="0" rIns="0" tIns="0" bIns="0" anchor="t">
            <a:spAutoFit/>
          </a:bodyPr>
          <a:lstStyle/>
          <a:p>
            <a:pPr algn="l">
              <a:lnSpc>
                <a:spcPct val="115000"/>
              </a:lnSpc>
              <a:spcAft>
                <a:spcPts val="600"/>
              </a:spcAft>
            </a:pPr>
            <a:r>
              <a:rPr sz="1350" b="1">
                <a:solidFill>
                  <a:srgbClr val="4F46E5"/>
                </a:solidFill>
                <a:latin typeface="Calibri"/>
              </a:rPr>
              <a:t>lib/ai</a:t>
            </a:r>
          </a:p>
        </p:txBody>
      </p:sp>
      <p:sp>
        <p:nvSpPr>
          <p:cNvPr id="15" name="TextBox 14"/>
          <p:cNvSpPr txBox="1"/>
          <p:nvPr/>
        </p:nvSpPr>
        <p:spPr>
          <a:xfrm>
            <a:off x="3566160" y="4636008"/>
            <a:ext cx="3657600" cy="274320"/>
          </a:xfrm>
          <a:prstGeom prst="rect">
            <a:avLst/>
          </a:prstGeom>
          <a:noFill/>
        </p:spPr>
        <p:txBody>
          <a:bodyPr wrap="square" lIns="0" rIns="0" tIns="0" bIns="0" anchor="t">
            <a:spAutoFit/>
          </a:bodyPr>
          <a:lstStyle/>
          <a:p>
            <a:pPr algn="l">
              <a:lnSpc>
                <a:spcPct val="115000"/>
              </a:lnSpc>
              <a:spcAft>
                <a:spcPts val="600"/>
              </a:spcAft>
            </a:pPr>
            <a:r>
              <a:rPr sz="1200" b="0">
                <a:solidFill>
                  <a:srgbClr val="475569"/>
                </a:solidFill>
                <a:latin typeface="Calibri"/>
              </a:rPr>
              <a:t>one API for every provider</a:t>
            </a:r>
          </a:p>
        </p:txBody>
      </p:sp>
      <p:sp>
        <p:nvSpPr>
          <p:cNvPr id="16" name="Rounded Rectangle 15"/>
          <p:cNvSpPr/>
          <p:nvPr/>
        </p:nvSpPr>
        <p:spPr>
          <a:xfrm>
            <a:off x="1005840" y="4892040"/>
            <a:ext cx="6400800" cy="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138160" y="2240280"/>
            <a:ext cx="3291840" cy="1417320"/>
          </a:xfrm>
          <a:prstGeom prst="roundRect">
            <a:avLst>
              <a:gd name="adj" fmla="val 8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0" y="2560320"/>
            <a:ext cx="2743200" cy="36576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AI provider</a:t>
            </a:r>
          </a:p>
        </p:txBody>
      </p:sp>
      <p:sp>
        <p:nvSpPr>
          <p:cNvPr id="19" name="TextBox 18"/>
          <p:cNvSpPr txBox="1"/>
          <p:nvPr/>
        </p:nvSpPr>
        <p:spPr>
          <a:xfrm>
            <a:off x="8412480" y="2971800"/>
            <a:ext cx="2743200" cy="548640"/>
          </a:xfrm>
          <a:prstGeom prst="rect">
            <a:avLst/>
          </a:prstGeom>
          <a:noFill/>
        </p:spPr>
        <p:txBody>
          <a:bodyPr wrap="square" lIns="0" rIns="0" tIns="0" bIns="0" anchor="t">
            <a:spAutoFit/>
          </a:bodyPr>
          <a:lstStyle/>
          <a:p>
            <a:pPr algn="l">
              <a:lnSpc>
                <a:spcPct val="115000"/>
              </a:lnSpc>
              <a:spcAft>
                <a:spcPts val="600"/>
              </a:spcAft>
            </a:pPr>
            <a:r>
              <a:rPr sz="1200" b="0">
                <a:solidFill>
                  <a:srgbClr val="C7D2FE"/>
                </a:solidFill>
                <a:latin typeface="Calibri"/>
              </a:rPr>
              <a:t>Gemini (default), Claude, Groq, OpenAI, ...</a:t>
            </a:r>
          </a:p>
        </p:txBody>
      </p:sp>
      <p:sp>
        <p:nvSpPr>
          <p:cNvPr id="20" name="Rounded Rectangle 19"/>
          <p:cNvSpPr/>
          <p:nvPr/>
        </p:nvSpPr>
        <p:spPr>
          <a:xfrm>
            <a:off x="8138160" y="3931920"/>
            <a:ext cx="3291840" cy="14173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80" y="4206240"/>
            <a:ext cx="27432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IndexedDB</a:t>
            </a:r>
          </a:p>
        </p:txBody>
      </p:sp>
      <p:sp>
        <p:nvSpPr>
          <p:cNvPr id="22" name="TextBox 21"/>
          <p:cNvSpPr txBox="1"/>
          <p:nvPr/>
        </p:nvSpPr>
        <p:spPr>
          <a:xfrm>
            <a:off x="8412480" y="4617720"/>
            <a:ext cx="2743200" cy="548640"/>
          </a:xfrm>
          <a:prstGeom prst="rect">
            <a:avLst/>
          </a:prstGeom>
          <a:noFill/>
        </p:spPr>
        <p:txBody>
          <a:bodyPr wrap="square" lIns="0" rIns="0" tIns="0" bIns="0" anchor="t">
            <a:spAutoFit/>
          </a:bodyPr>
          <a:lstStyle/>
          <a:p>
            <a:pPr algn="l">
              <a:lnSpc>
                <a:spcPct val="115000"/>
              </a:lnSpc>
              <a:spcAft>
                <a:spcPts val="600"/>
              </a:spcAft>
            </a:pPr>
            <a:r>
              <a:rPr sz="1150" b="0">
                <a:solidFill>
                  <a:srgbClr val="475569"/>
                </a:solidFill>
                <a:latin typeface="Calibri"/>
              </a:rPr>
              <a:t>Tracks, profiles, plans, chats, quiz history and the encrypted API key - on this device</a:t>
            </a:r>
          </a:p>
        </p:txBody>
      </p:sp>
      <p:sp>
        <p:nvSpPr>
          <p:cNvPr id="23" name="TextBox 22"/>
          <p:cNvSpPr txBox="1"/>
          <p:nvPr/>
        </p:nvSpPr>
        <p:spPr>
          <a:xfrm>
            <a:off x="731520" y="5623560"/>
            <a:ext cx="10789920" cy="822960"/>
          </a:xfrm>
          <a:prstGeom prst="rect">
            <a:avLst/>
          </a:prstGeom>
          <a:noFill/>
        </p:spPr>
        <p:txBody>
          <a:bodyPr wrap="square" lIns="0" rIns="0" tIns="0" bIns="0" anchor="t">
            <a:spAutoFit/>
          </a:bodyPr>
          <a:lstStyle/>
          <a:p>
            <a:pPr algn="l">
              <a:lnSpc>
                <a:spcPct val="115000"/>
              </a:lnSpc>
              <a:spcAft>
                <a:spcPts val="500"/>
              </a:spcAft>
            </a:pPr>
            <a:r>
              <a:rPr sz="1300" b="0">
                <a:solidFill>
                  <a:srgbClr val="0F172A"/>
                </a:solidFill>
                <a:latin typeface="Calibri"/>
              </a:rPr>
              <a:t>Swapping storage.ts for API calls is the only change needed to add a real backend.</a:t>
            </a:r>
          </a:p>
          <a:p>
            <a:pPr algn="l">
              <a:lnSpc>
                <a:spcPct val="115000"/>
              </a:lnSpc>
              <a:spcAft>
                <a:spcPts val="500"/>
              </a:spcAft>
            </a:pPr>
            <a:r>
              <a:rPr sz="1300" b="0">
                <a:solidFill>
                  <a:srgbClr val="0F172A"/>
                </a:solidFill>
                <a:latin typeface="Calibri"/>
              </a:rPr>
              <a:t>A small serverless proxy in front of lib/ai would let people learn without their own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FFFFFF"/>
                </a:solidFill>
                <a:latin typeface="Cambria"/>
              </a:rPr>
              <a:t>Private, installable, offline</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C7D2FE"/>
                </a:solidFill>
                <a:latin typeface="Calibri"/>
              </a:rPr>
              <a:t>One codebase for the web, Android and iPhone - no app store needed</a:t>
            </a:r>
          </a:p>
        </p:txBody>
      </p:sp>
      <p:sp>
        <p:nvSpPr>
          <p:cNvPr id="5" name="Rounded Rectangle 4"/>
          <p:cNvSpPr/>
          <p:nvPr/>
        </p:nvSpPr>
        <p:spPr>
          <a:xfrm>
            <a:off x="73152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Installs like an app</a:t>
            </a:r>
          </a:p>
        </p:txBody>
      </p:sp>
      <p:sp>
        <p:nvSpPr>
          <p:cNvPr id="7" name="TextBox 6"/>
          <p:cNvSpPr txBox="1"/>
          <p:nvPr/>
        </p:nvSpPr>
        <p:spPr>
          <a:xfrm>
            <a:off x="100584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Install app in Chrome or Edge, Add to Home Screen on iPhone - own icon and window.</a:t>
            </a:r>
          </a:p>
        </p:txBody>
      </p:sp>
      <p:sp>
        <p:nvSpPr>
          <p:cNvPr id="8" name="Rounded Rectangle 7"/>
          <p:cNvSpPr/>
          <p:nvPr/>
        </p:nvSpPr>
        <p:spPr>
          <a:xfrm>
            <a:off x="443484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09159"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Works offline</a:t>
            </a:r>
          </a:p>
        </p:txBody>
      </p:sp>
      <p:sp>
        <p:nvSpPr>
          <p:cNvPr id="10" name="TextBox 9"/>
          <p:cNvSpPr txBox="1"/>
          <p:nvPr/>
        </p:nvSpPr>
        <p:spPr>
          <a:xfrm>
            <a:off x="4709159"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 service worker caches the app, so saved tracks open with no connection.</a:t>
            </a:r>
          </a:p>
        </p:txBody>
      </p:sp>
      <p:sp>
        <p:nvSpPr>
          <p:cNvPr id="11" name="Rounded Rectangle 10"/>
          <p:cNvSpPr/>
          <p:nvPr/>
        </p:nvSpPr>
        <p:spPr>
          <a:xfrm>
            <a:off x="8138160" y="228600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254203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Your key, encrypted</a:t>
            </a:r>
          </a:p>
        </p:txBody>
      </p:sp>
      <p:sp>
        <p:nvSpPr>
          <p:cNvPr id="13" name="TextBox 12"/>
          <p:cNvSpPr txBox="1"/>
          <p:nvPr/>
        </p:nvSpPr>
        <p:spPr>
          <a:xfrm>
            <a:off x="8412480" y="299923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AES-GCM with a non-extractable device key; decrypted only in memory.</a:t>
            </a:r>
          </a:p>
        </p:txBody>
      </p:sp>
      <p:sp>
        <p:nvSpPr>
          <p:cNvPr id="14" name="Rounded Rectangle 13"/>
          <p:cNvSpPr/>
          <p:nvPr/>
        </p:nvSpPr>
        <p:spPr>
          <a:xfrm>
            <a:off x="73152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584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No keys in the build</a:t>
            </a:r>
          </a:p>
        </p:txBody>
      </p:sp>
      <p:sp>
        <p:nvSpPr>
          <p:cNvPr id="16" name="TextBox 15"/>
          <p:cNvSpPr txBox="1"/>
          <p:nvPr/>
        </p:nvSpPr>
        <p:spPr>
          <a:xfrm>
            <a:off x="100584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Keys live only in Settings, encrypted on the device - never in the code or a file.</a:t>
            </a:r>
          </a:p>
        </p:txBody>
      </p:sp>
      <p:sp>
        <p:nvSpPr>
          <p:cNvPr id="17" name="Rounded Rectangle 16"/>
          <p:cNvSpPr/>
          <p:nvPr/>
        </p:nvSpPr>
        <p:spPr>
          <a:xfrm>
            <a:off x="443484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709159"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Back up and restore</a:t>
            </a:r>
          </a:p>
        </p:txBody>
      </p:sp>
      <p:sp>
        <p:nvSpPr>
          <p:cNvPr id="19" name="TextBox 18"/>
          <p:cNvSpPr txBox="1"/>
          <p:nvPr/>
        </p:nvSpPr>
        <p:spPr>
          <a:xfrm>
            <a:off x="4709159"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Every track in one JSON file, checked on restore. API keys are never included.</a:t>
            </a:r>
          </a:p>
        </p:txBody>
      </p:sp>
      <p:sp>
        <p:nvSpPr>
          <p:cNvPr id="20" name="Rounded Rectangle 19"/>
          <p:cNvSpPr/>
          <p:nvPr/>
        </p:nvSpPr>
        <p:spPr>
          <a:xfrm>
            <a:off x="8138160" y="4160520"/>
            <a:ext cx="3383280" cy="160020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12480" y="4416552"/>
            <a:ext cx="2834640" cy="365760"/>
          </a:xfrm>
          <a:prstGeom prst="rect">
            <a:avLst/>
          </a:prstGeom>
          <a:noFill/>
        </p:spPr>
        <p:txBody>
          <a:bodyPr wrap="square" lIns="0" rIns="0" tIns="0" bIns="0" anchor="t">
            <a:spAutoFit/>
          </a:bodyPr>
          <a:lstStyle/>
          <a:p>
            <a:pPr algn="l">
              <a:lnSpc>
                <a:spcPct val="115000"/>
              </a:lnSpc>
              <a:spcAft>
                <a:spcPts val="600"/>
              </a:spcAft>
            </a:pPr>
            <a:r>
              <a:rPr sz="1450" b="1">
                <a:solidFill>
                  <a:srgbClr val="FFFFFF"/>
                </a:solidFill>
                <a:latin typeface="Cambria"/>
              </a:rPr>
              <a:t>Updates itself</a:t>
            </a:r>
          </a:p>
        </p:txBody>
      </p:sp>
      <p:sp>
        <p:nvSpPr>
          <p:cNvPr id="22" name="TextBox 21"/>
          <p:cNvSpPr txBox="1"/>
          <p:nvPr/>
        </p:nvSpPr>
        <p:spPr>
          <a:xfrm>
            <a:off x="8412480" y="4873752"/>
            <a:ext cx="2834640" cy="77724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A new deploy shows "New version ready - Reload" - nobody is stuck on an old copy.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Build and quality</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Small, typed, and checked</a:t>
            </a:r>
          </a:p>
        </p:txBody>
      </p:sp>
      <p:sp>
        <p:nvSpPr>
          <p:cNvPr id="5" name="Rounded Rectangle 4"/>
          <p:cNvSpPr/>
          <p:nvPr/>
        </p:nvSpPr>
        <p:spPr>
          <a:xfrm>
            <a:off x="731520" y="2194560"/>
            <a:ext cx="2011680" cy="13716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2377440"/>
            <a:ext cx="2011680" cy="640080"/>
          </a:xfrm>
          <a:prstGeom prst="rect">
            <a:avLst/>
          </a:prstGeom>
          <a:noFill/>
        </p:spPr>
        <p:txBody>
          <a:bodyPr wrap="square" lIns="0" rIns="0" tIns="0" bIns="0" anchor="t">
            <a:spAutoFit/>
          </a:bodyPr>
          <a:lstStyle/>
          <a:p>
            <a:pPr algn="ctr">
              <a:lnSpc>
                <a:spcPct val="115000"/>
              </a:lnSpc>
              <a:spcAft>
                <a:spcPts val="600"/>
              </a:spcAft>
            </a:pPr>
            <a:r>
              <a:rPr sz="3000" b="1">
                <a:solidFill>
                  <a:srgbClr val="4F46E5"/>
                </a:solidFill>
                <a:latin typeface="Cambria"/>
              </a:rPr>
              <a:t>~5,400</a:t>
            </a:r>
          </a:p>
        </p:txBody>
      </p:sp>
      <p:sp>
        <p:nvSpPr>
          <p:cNvPr id="7" name="TextBox 6"/>
          <p:cNvSpPr txBox="1"/>
          <p:nvPr/>
        </p:nvSpPr>
        <p:spPr>
          <a:xfrm>
            <a:off x="731520" y="3063240"/>
            <a:ext cx="2011680" cy="365760"/>
          </a:xfrm>
          <a:prstGeom prst="rect">
            <a:avLst/>
          </a:prstGeom>
          <a:noFill/>
        </p:spPr>
        <p:txBody>
          <a:bodyPr wrap="square" lIns="0" rIns="0" tIns="0" bIns="0" anchor="t">
            <a:spAutoFit/>
          </a:bodyPr>
          <a:lstStyle/>
          <a:p>
            <a:pPr algn="ctr">
              <a:lnSpc>
                <a:spcPct val="115000"/>
              </a:lnSpc>
              <a:spcAft>
                <a:spcPts val="600"/>
              </a:spcAft>
            </a:pPr>
            <a:r>
              <a:rPr sz="1100" b="0">
                <a:solidFill>
                  <a:srgbClr val="1E1B4B"/>
                </a:solidFill>
                <a:latin typeface="Calibri"/>
              </a:rPr>
              <a:t>lines of TypeScript</a:t>
            </a:r>
          </a:p>
        </p:txBody>
      </p:sp>
      <p:sp>
        <p:nvSpPr>
          <p:cNvPr id="8" name="Rounded Rectangle 7"/>
          <p:cNvSpPr/>
          <p:nvPr/>
        </p:nvSpPr>
        <p:spPr>
          <a:xfrm>
            <a:off x="2907791" y="2194560"/>
            <a:ext cx="2011680" cy="13716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07791" y="2377440"/>
            <a:ext cx="2011680" cy="640080"/>
          </a:xfrm>
          <a:prstGeom prst="rect">
            <a:avLst/>
          </a:prstGeom>
          <a:noFill/>
        </p:spPr>
        <p:txBody>
          <a:bodyPr wrap="square" lIns="0" rIns="0" tIns="0" bIns="0" anchor="t">
            <a:spAutoFit/>
          </a:bodyPr>
          <a:lstStyle/>
          <a:p>
            <a:pPr algn="ctr">
              <a:lnSpc>
                <a:spcPct val="115000"/>
              </a:lnSpc>
              <a:spcAft>
                <a:spcPts val="600"/>
              </a:spcAft>
            </a:pPr>
            <a:r>
              <a:rPr sz="3000" b="1">
                <a:solidFill>
                  <a:srgbClr val="4F46E5"/>
                </a:solidFill>
                <a:latin typeface="Cambria"/>
              </a:rPr>
              <a:t>48</a:t>
            </a:r>
          </a:p>
        </p:txBody>
      </p:sp>
      <p:sp>
        <p:nvSpPr>
          <p:cNvPr id="10" name="TextBox 9"/>
          <p:cNvSpPr txBox="1"/>
          <p:nvPr/>
        </p:nvSpPr>
        <p:spPr>
          <a:xfrm>
            <a:off x="2907791" y="3063240"/>
            <a:ext cx="2011680" cy="365760"/>
          </a:xfrm>
          <a:prstGeom prst="rect">
            <a:avLst/>
          </a:prstGeom>
          <a:noFill/>
        </p:spPr>
        <p:txBody>
          <a:bodyPr wrap="square" lIns="0" rIns="0" tIns="0" bIns="0" anchor="t">
            <a:spAutoFit/>
          </a:bodyPr>
          <a:lstStyle/>
          <a:p>
            <a:pPr algn="ctr">
              <a:lnSpc>
                <a:spcPct val="115000"/>
              </a:lnSpc>
              <a:spcAft>
                <a:spcPts val="600"/>
              </a:spcAft>
            </a:pPr>
            <a:r>
              <a:rPr sz="1100" b="0">
                <a:solidFill>
                  <a:srgbClr val="1E1B4B"/>
                </a:solidFill>
                <a:latin typeface="Calibri"/>
              </a:rPr>
              <a:t>source files</a:t>
            </a:r>
          </a:p>
        </p:txBody>
      </p:sp>
      <p:sp>
        <p:nvSpPr>
          <p:cNvPr id="11" name="Rounded Rectangle 10"/>
          <p:cNvSpPr/>
          <p:nvPr/>
        </p:nvSpPr>
        <p:spPr>
          <a:xfrm>
            <a:off x="5084064" y="2194560"/>
            <a:ext cx="2011680" cy="13716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84064" y="2377440"/>
            <a:ext cx="2011680" cy="640080"/>
          </a:xfrm>
          <a:prstGeom prst="rect">
            <a:avLst/>
          </a:prstGeom>
          <a:noFill/>
        </p:spPr>
        <p:txBody>
          <a:bodyPr wrap="square" lIns="0" rIns="0" tIns="0" bIns="0" anchor="t">
            <a:spAutoFit/>
          </a:bodyPr>
          <a:lstStyle/>
          <a:p>
            <a:pPr algn="ctr">
              <a:lnSpc>
                <a:spcPct val="115000"/>
              </a:lnSpc>
              <a:spcAft>
                <a:spcPts val="600"/>
              </a:spcAft>
            </a:pPr>
            <a:r>
              <a:rPr sz="3000" b="1">
                <a:solidFill>
                  <a:srgbClr val="4F46E5"/>
                </a:solidFill>
                <a:latin typeface="Cambria"/>
              </a:rPr>
              <a:t>12</a:t>
            </a:r>
          </a:p>
        </p:txBody>
      </p:sp>
      <p:sp>
        <p:nvSpPr>
          <p:cNvPr id="13" name="TextBox 12"/>
          <p:cNvSpPr txBox="1"/>
          <p:nvPr/>
        </p:nvSpPr>
        <p:spPr>
          <a:xfrm>
            <a:off x="5084064" y="3063240"/>
            <a:ext cx="2011680" cy="365760"/>
          </a:xfrm>
          <a:prstGeom prst="rect">
            <a:avLst/>
          </a:prstGeom>
          <a:noFill/>
        </p:spPr>
        <p:txBody>
          <a:bodyPr wrap="square" lIns="0" rIns="0" tIns="0" bIns="0" anchor="t">
            <a:spAutoFit/>
          </a:bodyPr>
          <a:lstStyle/>
          <a:p>
            <a:pPr algn="ctr">
              <a:lnSpc>
                <a:spcPct val="115000"/>
              </a:lnSpc>
              <a:spcAft>
                <a:spcPts val="600"/>
              </a:spcAft>
            </a:pPr>
            <a:r>
              <a:rPr sz="1100" b="0">
                <a:solidFill>
                  <a:srgbClr val="1E1B4B"/>
                </a:solidFill>
                <a:latin typeface="Calibri"/>
              </a:rPr>
              <a:t>AI providers</a:t>
            </a:r>
          </a:p>
        </p:txBody>
      </p:sp>
      <p:sp>
        <p:nvSpPr>
          <p:cNvPr id="14" name="Rounded Rectangle 13"/>
          <p:cNvSpPr/>
          <p:nvPr/>
        </p:nvSpPr>
        <p:spPr>
          <a:xfrm>
            <a:off x="7260336" y="2194560"/>
            <a:ext cx="2011680" cy="13716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0336" y="2377440"/>
            <a:ext cx="2011680" cy="640080"/>
          </a:xfrm>
          <a:prstGeom prst="rect">
            <a:avLst/>
          </a:prstGeom>
          <a:noFill/>
        </p:spPr>
        <p:txBody>
          <a:bodyPr wrap="square" lIns="0" rIns="0" tIns="0" bIns="0" anchor="t">
            <a:spAutoFit/>
          </a:bodyPr>
          <a:lstStyle/>
          <a:p>
            <a:pPr algn="ctr">
              <a:lnSpc>
                <a:spcPct val="115000"/>
              </a:lnSpc>
              <a:spcAft>
                <a:spcPts val="600"/>
              </a:spcAft>
            </a:pPr>
            <a:r>
              <a:rPr sz="3000" b="1">
                <a:solidFill>
                  <a:srgbClr val="4F46E5"/>
                </a:solidFill>
                <a:latin typeface="Cambria"/>
              </a:rPr>
              <a:t>AES-256</a:t>
            </a:r>
          </a:p>
        </p:txBody>
      </p:sp>
      <p:sp>
        <p:nvSpPr>
          <p:cNvPr id="16" name="TextBox 15"/>
          <p:cNvSpPr txBox="1"/>
          <p:nvPr/>
        </p:nvSpPr>
        <p:spPr>
          <a:xfrm>
            <a:off x="7260336" y="3063240"/>
            <a:ext cx="2011680" cy="365760"/>
          </a:xfrm>
          <a:prstGeom prst="rect">
            <a:avLst/>
          </a:prstGeom>
          <a:noFill/>
        </p:spPr>
        <p:txBody>
          <a:bodyPr wrap="square" lIns="0" rIns="0" tIns="0" bIns="0" anchor="t">
            <a:spAutoFit/>
          </a:bodyPr>
          <a:lstStyle/>
          <a:p>
            <a:pPr algn="ctr">
              <a:lnSpc>
                <a:spcPct val="115000"/>
              </a:lnSpc>
              <a:spcAft>
                <a:spcPts val="600"/>
              </a:spcAft>
            </a:pPr>
            <a:r>
              <a:rPr sz="1100" b="0">
                <a:solidFill>
                  <a:srgbClr val="1E1B4B"/>
                </a:solidFill>
                <a:latin typeface="Calibri"/>
              </a:rPr>
              <a:t>encrypted API keys</a:t>
            </a:r>
          </a:p>
        </p:txBody>
      </p:sp>
      <p:sp>
        <p:nvSpPr>
          <p:cNvPr id="17" name="Rounded Rectangle 16"/>
          <p:cNvSpPr/>
          <p:nvPr/>
        </p:nvSpPr>
        <p:spPr>
          <a:xfrm>
            <a:off x="9436608" y="2194560"/>
            <a:ext cx="2011680" cy="1371600"/>
          </a:xfrm>
          <a:prstGeom prst="roundRect">
            <a:avLst>
              <a:gd name="adj" fmla="val 8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36608" y="2377440"/>
            <a:ext cx="2011680" cy="640080"/>
          </a:xfrm>
          <a:prstGeom prst="rect">
            <a:avLst/>
          </a:prstGeom>
          <a:noFill/>
        </p:spPr>
        <p:txBody>
          <a:bodyPr wrap="square" lIns="0" rIns="0" tIns="0" bIns="0" anchor="t">
            <a:spAutoFit/>
          </a:bodyPr>
          <a:lstStyle/>
          <a:p>
            <a:pPr algn="ctr">
              <a:lnSpc>
                <a:spcPct val="115000"/>
              </a:lnSpc>
              <a:spcAft>
                <a:spcPts val="600"/>
              </a:spcAft>
            </a:pPr>
            <a:r>
              <a:rPr sz="3000" b="1">
                <a:solidFill>
                  <a:srgbClr val="4F46E5"/>
                </a:solidFill>
                <a:latin typeface="Cambria"/>
              </a:rPr>
              <a:t>0</a:t>
            </a:r>
          </a:p>
        </p:txBody>
      </p:sp>
      <p:sp>
        <p:nvSpPr>
          <p:cNvPr id="19" name="TextBox 18"/>
          <p:cNvSpPr txBox="1"/>
          <p:nvPr/>
        </p:nvSpPr>
        <p:spPr>
          <a:xfrm>
            <a:off x="9436608" y="3063240"/>
            <a:ext cx="2011680" cy="365760"/>
          </a:xfrm>
          <a:prstGeom prst="rect">
            <a:avLst/>
          </a:prstGeom>
          <a:noFill/>
        </p:spPr>
        <p:txBody>
          <a:bodyPr wrap="square" lIns="0" rIns="0" tIns="0" bIns="0" anchor="t">
            <a:spAutoFit/>
          </a:bodyPr>
          <a:lstStyle/>
          <a:p>
            <a:pPr algn="ctr">
              <a:lnSpc>
                <a:spcPct val="115000"/>
              </a:lnSpc>
              <a:spcAft>
                <a:spcPts val="600"/>
              </a:spcAft>
            </a:pPr>
            <a:r>
              <a:rPr sz="1100" b="0">
                <a:solidFill>
                  <a:srgbClr val="1E1B4B"/>
                </a:solidFill>
                <a:latin typeface="Calibri"/>
              </a:rPr>
              <a:t>backend services</a:t>
            </a:r>
          </a:p>
        </p:txBody>
      </p:sp>
      <p:sp>
        <p:nvSpPr>
          <p:cNvPr id="20" name="Rounded Rectangle 19"/>
          <p:cNvSpPr/>
          <p:nvPr/>
        </p:nvSpPr>
        <p:spPr>
          <a:xfrm>
            <a:off x="731520" y="3840480"/>
            <a:ext cx="5257800" cy="210312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51560" y="4114800"/>
            <a:ext cx="457200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Stack</a:t>
            </a:r>
          </a:p>
        </p:txBody>
      </p:sp>
      <p:sp>
        <p:nvSpPr>
          <p:cNvPr id="22" name="TextBox 21"/>
          <p:cNvSpPr txBox="1"/>
          <p:nvPr/>
        </p:nvSpPr>
        <p:spPr>
          <a:xfrm>
            <a:off x="1051560" y="4572000"/>
            <a:ext cx="4663440" cy="12801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React 19 + TypeScript (strict), Vite 8, Tailwind CSS 4</a:t>
            </a:r>
          </a:p>
          <a:p>
            <a:pPr algn="l">
              <a:lnSpc>
                <a:spcPct val="115000"/>
              </a:lnSpc>
              <a:spcAft>
                <a:spcPts val="600"/>
              </a:spcAft>
            </a:pPr>
            <a:r>
              <a:rPr sz="1250" b="0">
                <a:solidFill>
                  <a:srgbClr val="475569"/>
                </a:solidFill>
                <a:latin typeface="Calibri"/>
              </a:rPr>
              <a:t>Zod for every AI reply - types flow from one schema</a:t>
            </a:r>
          </a:p>
          <a:p>
            <a:pPr algn="l">
              <a:lnSpc>
                <a:spcPct val="115000"/>
              </a:lnSpc>
              <a:spcAft>
                <a:spcPts val="600"/>
              </a:spcAft>
            </a:pPr>
            <a:r>
              <a:rPr sz="1250" b="0">
                <a:solidFill>
                  <a:srgbClr val="475569"/>
                </a:solidFill>
                <a:latin typeface="Calibri"/>
              </a:rPr>
              <a:t>IndexedDB via idb; Web Crypto for the API key</a:t>
            </a:r>
          </a:p>
          <a:p>
            <a:pPr algn="l">
              <a:lnSpc>
                <a:spcPct val="115000"/>
              </a:lnSpc>
              <a:spcAft>
                <a:spcPts val="600"/>
              </a:spcAft>
            </a:pPr>
            <a:r>
              <a:rPr sz="1250" b="0">
                <a:solidFill>
                  <a:srgbClr val="475569"/>
                </a:solidFill>
                <a:latin typeface="Calibri"/>
              </a:rPr>
              <a:t>vite-plugin-pwa (Workbox): install, offline, updates</a:t>
            </a:r>
          </a:p>
        </p:txBody>
      </p:sp>
      <p:sp>
        <p:nvSpPr>
          <p:cNvPr id="23" name="Rounded Rectangle 22"/>
          <p:cNvSpPr/>
          <p:nvPr/>
        </p:nvSpPr>
        <p:spPr>
          <a:xfrm>
            <a:off x="6172200" y="3840480"/>
            <a:ext cx="5257800" cy="210312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4114800"/>
            <a:ext cx="457200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How it is verified</a:t>
            </a:r>
          </a:p>
        </p:txBody>
      </p:sp>
      <p:sp>
        <p:nvSpPr>
          <p:cNvPr id="25" name="TextBox 24"/>
          <p:cNvSpPr txBox="1"/>
          <p:nvPr/>
        </p:nvSpPr>
        <p:spPr>
          <a:xfrm>
            <a:off x="6492240" y="4572000"/>
            <a:ext cx="4663440" cy="128016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npm run build type-checks the whole app</a:t>
            </a:r>
          </a:p>
          <a:p>
            <a:pPr algn="l">
              <a:lnSpc>
                <a:spcPct val="115000"/>
              </a:lnSpc>
              <a:spcAft>
                <a:spcPts val="600"/>
              </a:spcAft>
            </a:pPr>
            <a:r>
              <a:rPr sz="1250" b="0">
                <a:solidFill>
                  <a:srgbClr val="475569"/>
                </a:solidFill>
                <a:latin typeface="Calibri"/>
              </a:rPr>
              <a:t>Production build checked in Chrome: offline, key encryption, backup</a:t>
            </a:r>
          </a:p>
          <a:p>
            <a:pPr algn="l">
              <a:lnSpc>
                <a:spcPct val="115000"/>
              </a:lnSpc>
              <a:spcAft>
                <a:spcPts val="600"/>
              </a:spcAft>
            </a:pPr>
            <a:r>
              <a:rPr sz="1250" b="0">
                <a:solidFill>
                  <a:srgbClr val="475569"/>
                </a:solidFill>
                <a:latin typeface="Calibri"/>
              </a:rPr>
              <a:t>Manual smoke test for the six learner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Cost, privacy and the honest caveat</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What it costs to run, how data is protected, and the one caveat</a:t>
            </a:r>
          </a:p>
        </p:txBody>
      </p:sp>
      <p:sp>
        <p:nvSpPr>
          <p:cNvPr id="5" name="Rounded Rectangle 4"/>
          <p:cNvSpPr/>
          <p:nvPr/>
        </p:nvSpPr>
        <p:spPr>
          <a:xfrm>
            <a:off x="731520" y="2194560"/>
            <a:ext cx="3474720" cy="356616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468880"/>
            <a:ext cx="292608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Cost</a:t>
            </a:r>
          </a:p>
        </p:txBody>
      </p:sp>
      <p:sp>
        <p:nvSpPr>
          <p:cNvPr id="7" name="TextBox 6"/>
          <p:cNvSpPr txBox="1"/>
          <p:nvPr/>
        </p:nvSpPr>
        <p:spPr>
          <a:xfrm>
            <a:off x="1005840" y="2926080"/>
            <a:ext cx="3017520" cy="2560320"/>
          </a:xfrm>
          <a:prstGeom prst="rect">
            <a:avLst/>
          </a:prstGeom>
          <a:noFill/>
        </p:spPr>
        <p:txBody>
          <a:bodyPr wrap="square" lIns="0" rIns="0" tIns="0" bIns="0" anchor="t">
            <a:spAutoFit/>
          </a:bodyPr>
          <a:lstStyle/>
          <a:p>
            <a:pPr algn="l">
              <a:lnSpc>
                <a:spcPct val="115000"/>
              </a:lnSpc>
              <a:spcAft>
                <a:spcPts val="900"/>
              </a:spcAft>
            </a:pPr>
            <a:r>
              <a:rPr sz="1250" b="0">
                <a:solidFill>
                  <a:srgbClr val="475569"/>
                </a:solidFill>
                <a:latin typeface="Calibri"/>
              </a:rPr>
              <a:t>Free tiers cover normal learning use</a:t>
            </a:r>
          </a:p>
          <a:p>
            <a:pPr algn="l">
              <a:lnSpc>
                <a:spcPct val="115000"/>
              </a:lnSpc>
              <a:spcAft>
                <a:spcPts val="900"/>
              </a:spcAft>
            </a:pPr>
            <a:r>
              <a:rPr sz="1250" b="0">
                <a:solidFill>
                  <a:srgbClr val="475569"/>
                </a:solidFill>
                <a:latin typeface="Calibri"/>
              </a:rPr>
              <a:t>Paid providers: a few cents per module</a:t>
            </a:r>
          </a:p>
          <a:p>
            <a:pPr algn="l">
              <a:lnSpc>
                <a:spcPct val="115000"/>
              </a:lnSpc>
              <a:spcAft>
                <a:spcPts val="900"/>
              </a:spcAft>
            </a:pPr>
            <a:r>
              <a:rPr sz="1250" b="0">
                <a:solidFill>
                  <a:srgbClr val="475569"/>
                </a:solidFill>
                <a:latin typeface="Calibri"/>
              </a:rPr>
              <a:t>Effort defaults to low to keep usage down</a:t>
            </a:r>
          </a:p>
          <a:p>
            <a:pPr algn="l">
              <a:lnSpc>
                <a:spcPct val="115000"/>
              </a:lnSpc>
              <a:spcAft>
                <a:spcPts val="900"/>
              </a:spcAft>
            </a:pPr>
            <a:r>
              <a:rPr sz="1250" b="0">
                <a:solidFill>
                  <a:srgbClr val="475569"/>
                </a:solidFill>
                <a:latin typeface="Calibri"/>
              </a:rPr>
              <a:t>Hosting: free - it is a static site</a:t>
            </a:r>
          </a:p>
        </p:txBody>
      </p:sp>
      <p:sp>
        <p:nvSpPr>
          <p:cNvPr id="8" name="Rounded Rectangle 7"/>
          <p:cNvSpPr/>
          <p:nvPr/>
        </p:nvSpPr>
        <p:spPr>
          <a:xfrm>
            <a:off x="4434840" y="2194560"/>
            <a:ext cx="3474720" cy="356616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09160" y="2468880"/>
            <a:ext cx="2926080" cy="365760"/>
          </a:xfrm>
          <a:prstGeom prst="rect">
            <a:avLst/>
          </a:prstGeom>
          <a:noFill/>
        </p:spPr>
        <p:txBody>
          <a:bodyPr wrap="square" lIns="0" rIns="0" tIns="0" bIns="0" anchor="t">
            <a:spAutoFit/>
          </a:bodyPr>
          <a:lstStyle/>
          <a:p>
            <a:pPr algn="l">
              <a:lnSpc>
                <a:spcPct val="115000"/>
              </a:lnSpc>
              <a:spcAft>
                <a:spcPts val="600"/>
              </a:spcAft>
            </a:pPr>
            <a:r>
              <a:rPr sz="1600" b="1">
                <a:solidFill>
                  <a:srgbClr val="0F172A"/>
                </a:solidFill>
                <a:latin typeface="Cambria"/>
              </a:rPr>
              <a:t>Privacy</a:t>
            </a:r>
          </a:p>
        </p:txBody>
      </p:sp>
      <p:sp>
        <p:nvSpPr>
          <p:cNvPr id="10" name="TextBox 9"/>
          <p:cNvSpPr txBox="1"/>
          <p:nvPr/>
        </p:nvSpPr>
        <p:spPr>
          <a:xfrm>
            <a:off x="4709160" y="2926080"/>
            <a:ext cx="3017520" cy="2560320"/>
          </a:xfrm>
          <a:prstGeom prst="rect">
            <a:avLst/>
          </a:prstGeom>
          <a:noFill/>
        </p:spPr>
        <p:txBody>
          <a:bodyPr wrap="square" lIns="0" rIns="0" tIns="0" bIns="0" anchor="t">
            <a:spAutoFit/>
          </a:bodyPr>
          <a:lstStyle/>
          <a:p>
            <a:pPr algn="l">
              <a:lnSpc>
                <a:spcPct val="115000"/>
              </a:lnSpc>
              <a:spcAft>
                <a:spcPts val="900"/>
              </a:spcAft>
            </a:pPr>
            <a:r>
              <a:rPr sz="1250" b="0">
                <a:solidFill>
                  <a:srgbClr val="475569"/>
                </a:solidFill>
                <a:latin typeface="Calibri"/>
              </a:rPr>
              <a:t>Learner data stays on the device</a:t>
            </a:r>
          </a:p>
          <a:p>
            <a:pPr algn="l">
              <a:lnSpc>
                <a:spcPct val="115000"/>
              </a:lnSpc>
              <a:spcAft>
                <a:spcPts val="900"/>
              </a:spcAft>
            </a:pPr>
            <a:r>
              <a:rPr sz="1250" b="0">
                <a:solidFill>
                  <a:srgbClr val="475569"/>
                </a:solidFill>
                <a:latin typeface="Calibri"/>
              </a:rPr>
              <a:t>No SkillPath server, no account</a:t>
            </a:r>
          </a:p>
          <a:p>
            <a:pPr algn="l">
              <a:lnSpc>
                <a:spcPct val="115000"/>
              </a:lnSpc>
              <a:spcAft>
                <a:spcPts val="900"/>
              </a:spcAft>
            </a:pPr>
            <a:r>
              <a:rPr sz="1250" b="0">
                <a:solidFill>
                  <a:srgbClr val="475569"/>
                </a:solidFill>
                <a:latin typeface="Calibri"/>
              </a:rPr>
              <a:t>Text goes only to the chosen provider</a:t>
            </a:r>
          </a:p>
          <a:p>
            <a:pPr algn="l">
              <a:lnSpc>
                <a:spcPct val="115000"/>
              </a:lnSpc>
              <a:spcAft>
                <a:spcPts val="900"/>
              </a:spcAft>
            </a:pPr>
            <a:r>
              <a:rPr sz="1250" b="0">
                <a:solidFill>
                  <a:srgbClr val="475569"/>
                </a:solidFill>
                <a:latin typeface="Calibri"/>
              </a:rPr>
              <a:t>Backups are a file the learner keeps</a:t>
            </a:r>
          </a:p>
          <a:p>
            <a:pPr algn="l">
              <a:lnSpc>
                <a:spcPct val="115000"/>
              </a:lnSpc>
              <a:spcAft>
                <a:spcPts val="900"/>
              </a:spcAft>
            </a:pPr>
            <a:r>
              <a:rPr sz="1250" b="0">
                <a:solidFill>
                  <a:srgbClr val="475569"/>
                </a:solidFill>
                <a:latin typeface="Calibri"/>
              </a:rPr>
              <a:t>Free tiers may train on prompts - the app says so</a:t>
            </a:r>
          </a:p>
        </p:txBody>
      </p:sp>
      <p:sp>
        <p:nvSpPr>
          <p:cNvPr id="11" name="Rounded Rectangle 10"/>
          <p:cNvSpPr/>
          <p:nvPr/>
        </p:nvSpPr>
        <p:spPr>
          <a:xfrm>
            <a:off x="8138160" y="2194560"/>
            <a:ext cx="3291840" cy="3566160"/>
          </a:xfrm>
          <a:prstGeom prst="roundRect">
            <a:avLst>
              <a:gd name="adj" fmla="val 8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2468880"/>
            <a:ext cx="2743200" cy="365760"/>
          </a:xfrm>
          <a:prstGeom prst="rect">
            <a:avLst/>
          </a:prstGeom>
          <a:noFill/>
        </p:spPr>
        <p:txBody>
          <a:bodyPr wrap="square" lIns="0" rIns="0" tIns="0" bIns="0" anchor="t">
            <a:spAutoFit/>
          </a:bodyPr>
          <a:lstStyle/>
          <a:p>
            <a:pPr algn="l">
              <a:lnSpc>
                <a:spcPct val="115000"/>
              </a:lnSpc>
              <a:spcAft>
                <a:spcPts val="600"/>
              </a:spcAft>
            </a:pPr>
            <a:r>
              <a:rPr sz="1600" b="1">
                <a:solidFill>
                  <a:srgbClr val="FFFFFF"/>
                </a:solidFill>
                <a:latin typeface="Cambria"/>
              </a:rPr>
              <a:t>The caveat</a:t>
            </a:r>
          </a:p>
        </p:txBody>
      </p:sp>
      <p:sp>
        <p:nvSpPr>
          <p:cNvPr id="13" name="TextBox 12"/>
          <p:cNvSpPr txBox="1"/>
          <p:nvPr/>
        </p:nvSpPr>
        <p:spPr>
          <a:xfrm>
            <a:off x="8412480" y="2926080"/>
            <a:ext cx="2834640" cy="2560320"/>
          </a:xfrm>
          <a:prstGeom prst="rect">
            <a:avLst/>
          </a:prstGeom>
          <a:noFill/>
        </p:spPr>
        <p:txBody>
          <a:bodyPr wrap="square" lIns="0" rIns="0" tIns="0" bIns="0" anchor="t">
            <a:spAutoFit/>
          </a:bodyPr>
          <a:lstStyle/>
          <a:p>
            <a:pPr algn="l">
              <a:lnSpc>
                <a:spcPct val="115000"/>
              </a:lnSpc>
              <a:spcAft>
                <a:spcPts val="900"/>
              </a:spcAft>
            </a:pPr>
            <a:r>
              <a:rPr sz="1250" b="0">
                <a:solidFill>
                  <a:srgbClr val="C7D2FE"/>
                </a:solidFill>
                <a:latin typeface="Calibri"/>
              </a:rPr>
              <a:t>Each learner brings their own API key - Gemini's is free.</a:t>
            </a:r>
          </a:p>
          <a:p>
            <a:pPr algn="l">
              <a:lnSpc>
                <a:spcPct val="115000"/>
              </a:lnSpc>
              <a:spcAft>
                <a:spcPts val="900"/>
              </a:spcAft>
            </a:pPr>
            <a:r>
              <a:rPr sz="1250" b="0">
                <a:solidFill>
                  <a:srgbClr val="C7D2FE"/>
                </a:solidFill>
                <a:latin typeface="Calibri"/>
              </a:rPr>
              <a:t>It is encrypted on their device and never ships in the app.</a:t>
            </a:r>
          </a:p>
          <a:p>
            <a:pPr algn="l">
              <a:lnSpc>
                <a:spcPct val="115000"/>
              </a:lnSpc>
              <a:spcAft>
                <a:spcPts val="900"/>
              </a:spcAft>
            </a:pPr>
            <a:r>
              <a:rPr sz="1250" b="0">
                <a:solidFill>
                  <a:srgbClr val="C7D2FE"/>
                </a:solidFill>
                <a:latin typeface="Calibri"/>
              </a:rPr>
              <a:t>To let people learn without a key: a small serverless proxy.</a:t>
            </a:r>
          </a:p>
          <a:p>
            <a:pPr algn="l">
              <a:lnSpc>
                <a:spcPct val="115000"/>
              </a:lnSpc>
              <a:spcAft>
                <a:spcPts val="900"/>
              </a:spcAft>
            </a:pPr>
            <a:r>
              <a:rPr sz="1250" b="0">
                <a:solidFill>
                  <a:srgbClr val="C7D2FE"/>
                </a:solidFill>
                <a:latin typeface="Calibri"/>
              </a:rPr>
              <a:t>That is a one-file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89920" cy="822960"/>
          </a:xfrm>
          <a:prstGeom prst="rect">
            <a:avLst/>
          </a:prstGeom>
          <a:noFill/>
        </p:spPr>
        <p:txBody>
          <a:bodyPr wrap="square" lIns="0" rIns="0" tIns="0" bIns="0" anchor="t">
            <a:spAutoFit/>
          </a:bodyPr>
          <a:lstStyle/>
          <a:p>
            <a:pPr algn="l">
              <a:lnSpc>
                <a:spcPct val="115000"/>
              </a:lnSpc>
              <a:spcAft>
                <a:spcPts val="600"/>
              </a:spcAft>
            </a:pPr>
            <a:r>
              <a:rPr sz="3400" b="1">
                <a:solidFill>
                  <a:srgbClr val="0F172A"/>
                </a:solidFill>
                <a:latin typeface="Cambria"/>
              </a:rPr>
              <a:t>Where it goes next</a:t>
            </a:r>
          </a:p>
        </p:txBody>
      </p:sp>
      <p:sp>
        <p:nvSpPr>
          <p:cNvPr id="4" name="TextBox 3"/>
          <p:cNvSpPr txBox="1"/>
          <p:nvPr/>
        </p:nvSpPr>
        <p:spPr>
          <a:xfrm>
            <a:off x="731520" y="1325880"/>
            <a:ext cx="10789920" cy="457200"/>
          </a:xfrm>
          <a:prstGeom prst="rect">
            <a:avLst/>
          </a:prstGeom>
          <a:noFill/>
        </p:spPr>
        <p:txBody>
          <a:bodyPr wrap="square" lIns="0" rIns="0" tIns="0" bIns="0" anchor="t">
            <a:spAutoFit/>
          </a:bodyPr>
          <a:lstStyle/>
          <a:p>
            <a:pPr algn="l">
              <a:lnSpc>
                <a:spcPct val="115000"/>
              </a:lnSpc>
              <a:spcAft>
                <a:spcPts val="600"/>
              </a:spcAft>
            </a:pPr>
            <a:r>
              <a:rPr sz="1500" b="0">
                <a:solidFill>
                  <a:srgbClr val="475569"/>
                </a:solidFill>
                <a:latin typeface="Calibri"/>
              </a:rPr>
              <a:t>Each step is a known, scoped change</a:t>
            </a:r>
          </a:p>
        </p:txBody>
      </p:sp>
      <p:sp>
        <p:nvSpPr>
          <p:cNvPr id="5" name="Rounded Rectangle 4"/>
          <p:cNvSpPr/>
          <p:nvPr/>
        </p:nvSpPr>
        <p:spPr>
          <a:xfrm>
            <a:off x="731520" y="2194560"/>
            <a:ext cx="10698480" cy="868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005840" y="2423160"/>
            <a:ext cx="1005840" cy="411480"/>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505456"/>
            <a:ext cx="1005840" cy="274320"/>
          </a:xfrm>
          <a:prstGeom prst="rect">
            <a:avLst/>
          </a:prstGeom>
          <a:noFill/>
        </p:spPr>
        <p:txBody>
          <a:bodyPr wrap="square" lIns="0" rIns="0" tIns="0" bIns="0" anchor="t">
            <a:spAutoFit/>
          </a:bodyPr>
          <a:lstStyle/>
          <a:p>
            <a:pPr algn="ctr">
              <a:lnSpc>
                <a:spcPct val="115000"/>
              </a:lnSpc>
              <a:spcAft>
                <a:spcPts val="600"/>
              </a:spcAft>
            </a:pPr>
            <a:r>
              <a:rPr sz="1100" b="1">
                <a:solidFill>
                  <a:srgbClr val="FFFFFF"/>
                </a:solidFill>
                <a:latin typeface="Calibri"/>
              </a:rPr>
              <a:t>Done</a:t>
            </a:r>
          </a:p>
        </p:txBody>
      </p:sp>
      <p:sp>
        <p:nvSpPr>
          <p:cNvPr id="8" name="TextBox 7"/>
          <p:cNvSpPr txBox="1"/>
          <p:nvPr/>
        </p:nvSpPr>
        <p:spPr>
          <a:xfrm>
            <a:off x="2240280" y="2377440"/>
            <a:ext cx="36576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Installable app, encrypted keys</a:t>
            </a:r>
          </a:p>
        </p:txBody>
      </p:sp>
      <p:sp>
        <p:nvSpPr>
          <p:cNvPr id="9" name="TextBox 8"/>
          <p:cNvSpPr txBox="1"/>
          <p:nvPr/>
        </p:nvSpPr>
        <p:spPr>
          <a:xfrm>
            <a:off x="2240280" y="2697480"/>
            <a:ext cx="7315200" cy="27432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Offline use, backup and restore, Gemini by default</a:t>
            </a:r>
          </a:p>
        </p:txBody>
      </p:sp>
      <p:sp>
        <p:nvSpPr>
          <p:cNvPr id="10" name="Rounded Rectangle 9"/>
          <p:cNvSpPr/>
          <p:nvPr/>
        </p:nvSpPr>
        <p:spPr>
          <a:xfrm>
            <a:off x="731520" y="3200400"/>
            <a:ext cx="10698480" cy="86868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005840" y="3429000"/>
            <a:ext cx="1005840" cy="411480"/>
          </a:xfrm>
          <a:prstGeom prst="roundRect">
            <a:avLst>
              <a:gd name="adj" fmla="val 3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3511296"/>
            <a:ext cx="1005840" cy="274320"/>
          </a:xfrm>
          <a:prstGeom prst="rect">
            <a:avLst/>
          </a:prstGeom>
          <a:noFill/>
        </p:spPr>
        <p:txBody>
          <a:bodyPr wrap="square" lIns="0" rIns="0" tIns="0" bIns="0" anchor="t">
            <a:spAutoFit/>
          </a:bodyPr>
          <a:lstStyle/>
          <a:p>
            <a:pPr algn="ctr">
              <a:lnSpc>
                <a:spcPct val="115000"/>
              </a:lnSpc>
              <a:spcAft>
                <a:spcPts val="600"/>
              </a:spcAft>
            </a:pPr>
            <a:r>
              <a:rPr sz="1100" b="1">
                <a:solidFill>
                  <a:srgbClr val="1E1B4B"/>
                </a:solidFill>
                <a:latin typeface="Calibri"/>
              </a:rPr>
              <a:t>Next</a:t>
            </a:r>
          </a:p>
        </p:txBody>
      </p:sp>
      <p:sp>
        <p:nvSpPr>
          <p:cNvPr id="13" name="TextBox 12"/>
          <p:cNvSpPr txBox="1"/>
          <p:nvPr/>
        </p:nvSpPr>
        <p:spPr>
          <a:xfrm>
            <a:off x="2240280" y="3383280"/>
            <a:ext cx="36576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Publish it</a:t>
            </a:r>
          </a:p>
        </p:txBody>
      </p:sp>
      <p:sp>
        <p:nvSpPr>
          <p:cNvPr id="14" name="TextBox 13"/>
          <p:cNvSpPr txBox="1"/>
          <p:nvPr/>
        </p:nvSpPr>
        <p:spPr>
          <a:xfrm>
            <a:off x="2240280" y="3703320"/>
            <a:ext cx="7315200" cy="27432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Host on Vercel; Android app via PWABuilder</a:t>
            </a:r>
          </a:p>
        </p:txBody>
      </p:sp>
      <p:sp>
        <p:nvSpPr>
          <p:cNvPr id="15" name="Rounded Rectangle 14"/>
          <p:cNvSpPr/>
          <p:nvPr/>
        </p:nvSpPr>
        <p:spPr>
          <a:xfrm>
            <a:off x="731520" y="4206240"/>
            <a:ext cx="10698480" cy="8686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005840" y="4434840"/>
            <a:ext cx="1005840" cy="411480"/>
          </a:xfrm>
          <a:prstGeom prst="roundRect">
            <a:avLst>
              <a:gd name="adj" fmla="val 3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5840" y="4517136"/>
            <a:ext cx="1005840" cy="274320"/>
          </a:xfrm>
          <a:prstGeom prst="rect">
            <a:avLst/>
          </a:prstGeom>
          <a:noFill/>
        </p:spPr>
        <p:txBody>
          <a:bodyPr wrap="square" lIns="0" rIns="0" tIns="0" bIns="0" anchor="t">
            <a:spAutoFit/>
          </a:bodyPr>
          <a:lstStyle/>
          <a:p>
            <a:pPr algn="ctr">
              <a:lnSpc>
                <a:spcPct val="115000"/>
              </a:lnSpc>
              <a:spcAft>
                <a:spcPts val="600"/>
              </a:spcAft>
            </a:pPr>
            <a:r>
              <a:rPr sz="1100" b="1">
                <a:solidFill>
                  <a:srgbClr val="1E1B4B"/>
                </a:solidFill>
                <a:latin typeface="Calibri"/>
              </a:rPr>
              <a:t>Then</a:t>
            </a:r>
          </a:p>
        </p:txBody>
      </p:sp>
      <p:sp>
        <p:nvSpPr>
          <p:cNvPr id="18" name="TextBox 17"/>
          <p:cNvSpPr txBox="1"/>
          <p:nvPr/>
        </p:nvSpPr>
        <p:spPr>
          <a:xfrm>
            <a:off x="2240280" y="4389120"/>
            <a:ext cx="36576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Serverless key proxy</a:t>
            </a:r>
          </a:p>
        </p:txBody>
      </p:sp>
      <p:sp>
        <p:nvSpPr>
          <p:cNvPr id="19" name="TextBox 18"/>
          <p:cNvSpPr txBox="1"/>
          <p:nvPr/>
        </p:nvSpPr>
        <p:spPr>
          <a:xfrm>
            <a:off x="2240280" y="4709159"/>
            <a:ext cx="7315200" cy="27432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Let people learn without their own key</a:t>
            </a:r>
          </a:p>
        </p:txBody>
      </p:sp>
      <p:sp>
        <p:nvSpPr>
          <p:cNvPr id="20" name="Rounded Rectangle 19"/>
          <p:cNvSpPr/>
          <p:nvPr/>
        </p:nvSpPr>
        <p:spPr>
          <a:xfrm>
            <a:off x="731520" y="5212080"/>
            <a:ext cx="10698480" cy="868680"/>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005840" y="5440680"/>
            <a:ext cx="1005840" cy="411480"/>
          </a:xfrm>
          <a:prstGeom prst="roundRect">
            <a:avLst>
              <a:gd name="adj" fmla="val 3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5840" y="5522976"/>
            <a:ext cx="1005840" cy="274320"/>
          </a:xfrm>
          <a:prstGeom prst="rect">
            <a:avLst/>
          </a:prstGeom>
          <a:noFill/>
        </p:spPr>
        <p:txBody>
          <a:bodyPr wrap="square" lIns="0" rIns="0" tIns="0" bIns="0" anchor="t">
            <a:spAutoFit/>
          </a:bodyPr>
          <a:lstStyle/>
          <a:p>
            <a:pPr algn="ctr">
              <a:lnSpc>
                <a:spcPct val="115000"/>
              </a:lnSpc>
              <a:spcAft>
                <a:spcPts val="600"/>
              </a:spcAft>
            </a:pPr>
            <a:r>
              <a:rPr sz="1100" b="1">
                <a:solidFill>
                  <a:srgbClr val="1E1B4B"/>
                </a:solidFill>
                <a:latin typeface="Calibri"/>
              </a:rPr>
              <a:t>Later</a:t>
            </a:r>
          </a:p>
        </p:txBody>
      </p:sp>
      <p:sp>
        <p:nvSpPr>
          <p:cNvPr id="23" name="TextBox 22"/>
          <p:cNvSpPr txBox="1"/>
          <p:nvPr/>
        </p:nvSpPr>
        <p:spPr>
          <a:xfrm>
            <a:off x="2240280" y="5394960"/>
            <a:ext cx="3657600" cy="365760"/>
          </a:xfrm>
          <a:prstGeom prst="rect">
            <a:avLst/>
          </a:prstGeom>
          <a:noFill/>
        </p:spPr>
        <p:txBody>
          <a:bodyPr wrap="square" lIns="0" rIns="0" tIns="0" bIns="0" anchor="t">
            <a:spAutoFit/>
          </a:bodyPr>
          <a:lstStyle/>
          <a:p>
            <a:pPr algn="l">
              <a:lnSpc>
                <a:spcPct val="115000"/>
              </a:lnSpc>
              <a:spcAft>
                <a:spcPts val="600"/>
              </a:spcAft>
            </a:pPr>
            <a:r>
              <a:rPr sz="1500" b="1">
                <a:solidFill>
                  <a:srgbClr val="0F172A"/>
                </a:solidFill>
                <a:latin typeface="Cambria"/>
              </a:rPr>
              <a:t>Accounts, sync and trainer view</a:t>
            </a:r>
          </a:p>
        </p:txBody>
      </p:sp>
      <p:sp>
        <p:nvSpPr>
          <p:cNvPr id="24" name="TextBox 23"/>
          <p:cNvSpPr txBox="1"/>
          <p:nvPr/>
        </p:nvSpPr>
        <p:spPr>
          <a:xfrm>
            <a:off x="2240280" y="5715000"/>
            <a:ext cx="7315200" cy="274320"/>
          </a:xfrm>
          <a:prstGeom prst="rect">
            <a:avLst/>
          </a:prstGeom>
          <a:noFill/>
        </p:spPr>
        <p:txBody>
          <a:bodyPr wrap="square" lIns="0" rIns="0" tIns="0" bIns="0" anchor="t">
            <a:spAutoFit/>
          </a:bodyPr>
          <a:lstStyle/>
          <a:p>
            <a:pPr algn="l">
              <a:lnSpc>
                <a:spcPct val="115000"/>
              </a:lnSpc>
              <a:spcAft>
                <a:spcPts val="600"/>
              </a:spcAft>
            </a:pPr>
            <a:r>
              <a:rPr sz="1250" b="0">
                <a:solidFill>
                  <a:srgbClr val="475569"/>
                </a:solidFill>
                <a:latin typeface="Calibri"/>
              </a:rPr>
              <a:t>Progress across devices; team skill profiles in one place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515600" cy="1097280"/>
          </a:xfrm>
          <a:prstGeom prst="rect">
            <a:avLst/>
          </a:prstGeom>
          <a:noFill/>
        </p:spPr>
        <p:txBody>
          <a:bodyPr wrap="square" lIns="0" rIns="0" tIns="0" bIns="0" anchor="t">
            <a:spAutoFit/>
          </a:bodyPr>
          <a:lstStyle/>
          <a:p>
            <a:pPr algn="l">
              <a:lnSpc>
                <a:spcPct val="115000"/>
              </a:lnSpc>
              <a:spcAft>
                <a:spcPts val="600"/>
              </a:spcAft>
            </a:pPr>
            <a:r>
              <a:rPr sz="4400" b="1">
                <a:solidFill>
                  <a:srgbClr val="FFFFFF"/>
                </a:solidFill>
                <a:latin typeface="Cambria"/>
              </a:rPr>
              <a:t>Measure first. Teach the gap.</a:t>
            </a:r>
          </a:p>
        </p:txBody>
      </p:sp>
      <p:sp>
        <p:nvSpPr>
          <p:cNvPr id="4" name="TextBox 3"/>
          <p:cNvSpPr txBox="1"/>
          <p:nvPr/>
        </p:nvSpPr>
        <p:spPr>
          <a:xfrm>
            <a:off x="731520" y="3200400"/>
            <a:ext cx="9601200" cy="822960"/>
          </a:xfrm>
          <a:prstGeom prst="rect">
            <a:avLst/>
          </a:prstGeom>
          <a:noFill/>
        </p:spPr>
        <p:txBody>
          <a:bodyPr wrap="square" lIns="0" rIns="0" tIns="0" bIns="0" anchor="t">
            <a:spAutoFit/>
          </a:bodyPr>
          <a:lstStyle/>
          <a:p>
            <a:pPr algn="l">
              <a:lnSpc>
                <a:spcPct val="115000"/>
              </a:lnSpc>
              <a:spcAft>
                <a:spcPts val="600"/>
              </a:spcAft>
            </a:pPr>
            <a:r>
              <a:rPr sz="1800" b="0">
                <a:solidFill>
                  <a:srgbClr val="C7D2FE"/>
                </a:solidFill>
                <a:latin typeface="Calibri"/>
              </a:rPr>
              <a:t>SkillPath turns "learn Python" into a measured profile, a plan, real courses, and a tutor that adapts.</a:t>
            </a:r>
          </a:p>
        </p:txBody>
      </p:sp>
      <p:sp>
        <p:nvSpPr>
          <p:cNvPr id="5" name="Rounded Rectangle 4"/>
          <p:cNvSpPr/>
          <p:nvPr/>
        </p:nvSpPr>
        <p:spPr>
          <a:xfrm>
            <a:off x="731520" y="4572000"/>
            <a:ext cx="3383280" cy="11887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4800600"/>
            <a:ext cx="2834640" cy="32004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Try it</a:t>
            </a:r>
          </a:p>
        </p:txBody>
      </p:sp>
      <p:sp>
        <p:nvSpPr>
          <p:cNvPr id="7" name="TextBox 6"/>
          <p:cNvSpPr txBox="1"/>
          <p:nvPr/>
        </p:nvSpPr>
        <p:spPr>
          <a:xfrm>
            <a:off x="1005840" y="5212080"/>
            <a:ext cx="2926080" cy="36576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npm install  ·  npm run dev</a:t>
            </a:r>
          </a:p>
        </p:txBody>
      </p:sp>
      <p:sp>
        <p:nvSpPr>
          <p:cNvPr id="8" name="Rounded Rectangle 7"/>
          <p:cNvSpPr/>
          <p:nvPr/>
        </p:nvSpPr>
        <p:spPr>
          <a:xfrm>
            <a:off x="4434840" y="4572000"/>
            <a:ext cx="3383280" cy="11887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09159" y="4800600"/>
            <a:ext cx="2834640" cy="32004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Read it</a:t>
            </a:r>
          </a:p>
        </p:txBody>
      </p:sp>
      <p:sp>
        <p:nvSpPr>
          <p:cNvPr id="10" name="TextBox 9"/>
          <p:cNvSpPr txBox="1"/>
          <p:nvPr/>
        </p:nvSpPr>
        <p:spPr>
          <a:xfrm>
            <a:off x="4709159" y="5212080"/>
            <a:ext cx="2926080" cy="36576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docs/USER_GUIDE.docx  ·  docs/DEVELOPER_GUIDE.docx</a:t>
            </a:r>
          </a:p>
        </p:txBody>
      </p:sp>
      <p:sp>
        <p:nvSpPr>
          <p:cNvPr id="11" name="Rounded Rectangle 10"/>
          <p:cNvSpPr/>
          <p:nvPr/>
        </p:nvSpPr>
        <p:spPr>
          <a:xfrm>
            <a:off x="8138160" y="4572000"/>
            <a:ext cx="3383280" cy="1188720"/>
          </a:xfrm>
          <a:prstGeom prst="roundRect">
            <a:avLst>
              <a:gd name="adj" fmla="val 8000"/>
            </a:avLst>
          </a:prstGeom>
          <a:solidFill>
            <a:srgbClr val="2E2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0" y="4800600"/>
            <a:ext cx="2834640" cy="320040"/>
          </a:xfrm>
          <a:prstGeom prst="rect">
            <a:avLst/>
          </a:prstGeom>
          <a:noFill/>
        </p:spPr>
        <p:txBody>
          <a:bodyPr wrap="square" lIns="0" rIns="0" tIns="0" bIns="0" anchor="t">
            <a:spAutoFit/>
          </a:bodyPr>
          <a:lstStyle/>
          <a:p>
            <a:pPr algn="l">
              <a:lnSpc>
                <a:spcPct val="115000"/>
              </a:lnSpc>
              <a:spcAft>
                <a:spcPts val="600"/>
              </a:spcAft>
            </a:pPr>
            <a:r>
              <a:rPr sz="1500" b="1">
                <a:solidFill>
                  <a:srgbClr val="FFFFFF"/>
                </a:solidFill>
                <a:latin typeface="Cambria"/>
              </a:rPr>
              <a:t>Extend it</a:t>
            </a:r>
          </a:p>
        </p:txBody>
      </p:sp>
      <p:sp>
        <p:nvSpPr>
          <p:cNvPr id="13" name="TextBox 12"/>
          <p:cNvSpPr txBox="1"/>
          <p:nvPr/>
        </p:nvSpPr>
        <p:spPr>
          <a:xfrm>
            <a:off x="8412480" y="5212080"/>
            <a:ext cx="2926080" cy="36576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One entry adds an AI provider</a:t>
            </a:r>
          </a:p>
        </p:txBody>
      </p:sp>
      <p:sp>
        <p:nvSpPr>
          <p:cNvPr id="14" name="Credit"/>
          <p:cNvSpPr txBox="1"/>
          <p:nvPr/>
        </p:nvSpPr>
        <p:spPr>
          <a:xfrm>
            <a:off x="731520" y="6172200"/>
            <a:ext cx="10789920" cy="365760"/>
          </a:xfrm>
          <a:prstGeom prst="rect">
            <a:avLst/>
          </a:prstGeom>
          <a:noFill/>
        </p:spPr>
        <p:txBody>
          <a:bodyPr wrap="square" lIns="0" rIns="0" tIns="0" bIns="0" anchor="t">
            <a:spAutoFit/>
          </a:bodyPr>
          <a:lstStyle/>
          <a:p>
            <a:pPr algn="l">
              <a:lnSpc>
                <a:spcPct val="115000"/>
              </a:lnSpc>
              <a:spcAft>
                <a:spcPts val="600"/>
              </a:spcAft>
            </a:pPr>
            <a:r>
              <a:rPr sz="1150" b="0">
                <a:solidFill>
                  <a:srgbClr val="C7D2FE"/>
                </a:solidFill>
                <a:latin typeface="Calibri"/>
              </a:rPr>
              <a:t>Designed &amp; developed by Harbinger  ·  © 2026 Harbinger.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